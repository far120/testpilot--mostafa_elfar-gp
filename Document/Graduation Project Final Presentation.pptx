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Liter"/>
      <p:regular r:id="rId18"/>
    </p:embeddedFont>
    <p:embeddedFont>
      <p:font typeface="Quattrocento Sans"/>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QuattrocentoSans-bold.fntdata"/><Relationship Id="rId11" Type="http://schemas.openxmlformats.org/officeDocument/2006/relationships/slide" Target="slides/slide5.xml"/><Relationship Id="rId22" Type="http://schemas.openxmlformats.org/officeDocument/2006/relationships/font" Target="fonts/QuattrocentoSans-boldItalic.fntdata"/><Relationship Id="rId10" Type="http://schemas.openxmlformats.org/officeDocument/2006/relationships/slide" Target="slides/slide4.xml"/><Relationship Id="rId21" Type="http://schemas.openxmlformats.org/officeDocument/2006/relationships/font" Target="fonts/QuattrocentoSans-italic.fntdata"/><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font" Target="fonts/QuattrocentoSans-regular.fntdata"/><Relationship Id="rId6" Type="http://schemas.openxmlformats.org/officeDocument/2006/relationships/notesMaster" Target="notesMasters/notesMaster1.xml"/><Relationship Id="rId18" Type="http://schemas.openxmlformats.org/officeDocument/2006/relationships/font" Target="fonts/Liter-regular.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 name="Shape 54"/>
        <p:cNvGrpSpPr/>
        <p:nvPr/>
      </p:nvGrpSpPr>
      <p:grpSpPr>
        <a:xfrm>
          <a:off x="0" y="0"/>
          <a:ext cx="0" cy="0"/>
          <a:chOff x="0" y="0"/>
          <a:chExt cx="0" cy="0"/>
        </a:xfrm>
      </p:grpSpPr>
      <p:sp>
        <p:nvSpPr>
          <p:cNvPr id="55" name="Google Shape;55;g3efb50ae914_0_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 name="Google Shape;56;g3efb50ae914_0_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g3efb50ae914_0_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efb50ae914_1_20: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g3efb50ae914_1_20: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g3efb50ae914_1_20: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efb50ae914_1_4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g3efb50ae914_1_4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g3efb50ae914_1_4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g3efb50ae914_1_92: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g3efb50ae914_1_92: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g3efb50ae914_1_92: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efb50ae914_1_21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g3efb50ae914_1_21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g3efb50ae914_1_21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efb50ae914_1_124: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0" name="Google Shape;140;g3efb50ae914_1_124: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1" name="Google Shape;141;g3efb50ae914_1_124: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efb50ae914_1_159: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7" name="Google Shape;167;g3efb50ae914_1_159: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g3efb50ae914_1_159: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3efb50ae914_1_285: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6" name="Google Shape;176;g3efb50ae914_1_285: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7" name="Google Shape;177;g3efb50ae914_1_285: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efb50ae914_1_296: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g3efb50ae914_1_296: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g3efb50ae914_1_296: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efb50ae914_1_313: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g3efb50ae914_1_313: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g3efb50ae914_1_313: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efb50ae914_1_337:notes"/>
          <p:cNvSpPr/>
          <p:nvPr>
            <p:ph idx="2" type="sldImg"/>
          </p:nvPr>
        </p:nvSpPr>
        <p:spPr>
          <a:xfrm>
            <a:off x="685800" y="857250"/>
            <a:ext cx="5486400" cy="23145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g3efb50ae914_1_337:notes"/>
          <p:cNvSpPr txBox="1"/>
          <p:nvPr>
            <p:ph idx="1" type="body"/>
          </p:nvPr>
        </p:nvSpPr>
        <p:spPr>
          <a:xfrm>
            <a:off x="685800" y="3300413"/>
            <a:ext cx="5486400" cy="27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7" name="Google Shape;207;g3efb50ae914_1_337:notes"/>
          <p:cNvSpPr txBox="1"/>
          <p:nvPr>
            <p:ph idx="12" type="sldNum"/>
          </p:nvPr>
        </p:nvSpPr>
        <p:spPr>
          <a:xfrm>
            <a:off x="3884613" y="6513910"/>
            <a:ext cx="2971800" cy="3441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0" name="Shape 50"/>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52" name="Shape 52"/>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PTIST_MASTER">
  <p:cSld name="PPTIST_MASTER">
    <p:bg>
      <p:bgPr>
        <a:solidFill>
          <a:srgbClr val="FFFFFF"/>
        </a:solidFill>
      </p:bgPr>
    </p:bg>
    <p:spTree>
      <p:nvGrpSpPr>
        <p:cNvPr id="53" name="Shape 5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 name="Shape 51"/>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60" r:id="rId1"/>
    <p:sldLayoutId id="2147483661"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58" name="Shape 58"/>
        <p:cNvGrpSpPr/>
        <p:nvPr/>
      </p:nvGrpSpPr>
      <p:grpSpPr>
        <a:xfrm>
          <a:off x="0" y="0"/>
          <a:ext cx="0" cy="0"/>
          <a:chOff x="0" y="0"/>
          <a:chExt cx="0" cy="0"/>
        </a:xfrm>
      </p:grpSpPr>
      <p:sp>
        <p:nvSpPr>
          <p:cNvPr id="59" name="Google Shape;59;p17"/>
          <p:cNvSpPr/>
          <p:nvPr/>
        </p:nvSpPr>
        <p:spPr>
          <a:xfrm>
            <a:off x="2932511" y="1623765"/>
            <a:ext cx="3279000" cy="643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 sz="4100" u="none" cap="none" strike="noStrike">
                <a:solidFill>
                  <a:srgbClr val="1E293B"/>
                </a:solidFill>
                <a:latin typeface="Liter"/>
                <a:ea typeface="Liter"/>
                <a:cs typeface="Liter"/>
                <a:sym typeface="Liter"/>
              </a:rPr>
              <a:t>TestPilot</a:t>
            </a:r>
            <a:endParaRPr b="0" i="0" sz="1200" u="none" cap="none" strike="noStrike"/>
          </a:p>
        </p:txBody>
      </p:sp>
      <p:sp>
        <p:nvSpPr>
          <p:cNvPr id="60" name="Google Shape;60;p17"/>
          <p:cNvSpPr/>
          <p:nvPr/>
        </p:nvSpPr>
        <p:spPr>
          <a:xfrm>
            <a:off x="4114775" y="2674777"/>
            <a:ext cx="914400" cy="28575"/>
          </a:xfrm>
          <a:custGeom>
            <a:rect b="b" l="l" r="r" t="t"/>
            <a:pathLst>
              <a:path extrusionOk="0" h="38100" w="1219200">
                <a:moveTo>
                  <a:pt x="0" y="0"/>
                </a:moveTo>
                <a:lnTo>
                  <a:pt x="1219200" y="0"/>
                </a:lnTo>
                <a:lnTo>
                  <a:pt x="1219200" y="38100"/>
                </a:lnTo>
                <a:lnTo>
                  <a:pt x="0" y="38100"/>
                </a:lnTo>
                <a:lnTo>
                  <a:pt x="0" y="0"/>
                </a:lnTo>
                <a:close/>
              </a:path>
            </a:pathLst>
          </a:custGeom>
          <a:solidFill>
            <a:srgbClr val="2563EB"/>
          </a:solidFill>
          <a:ln>
            <a:noFill/>
          </a:ln>
        </p:spPr>
      </p:sp>
      <p:sp>
        <p:nvSpPr>
          <p:cNvPr id="61" name="Google Shape;61;p17"/>
          <p:cNvSpPr/>
          <p:nvPr/>
        </p:nvSpPr>
        <p:spPr>
          <a:xfrm>
            <a:off x="3007446" y="2228509"/>
            <a:ext cx="3129000" cy="35010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 sz="1700" u="none" cap="none" strike="noStrike">
                <a:solidFill>
                  <a:srgbClr val="64748B"/>
                </a:solidFill>
                <a:latin typeface="Quattrocento Sans"/>
                <a:ea typeface="Quattrocento Sans"/>
                <a:cs typeface="Quattrocento Sans"/>
                <a:sym typeface="Quattrocento Sans"/>
              </a:rPr>
              <a:t>Autonomous Web Testing Agent</a:t>
            </a:r>
            <a:endParaRPr b="0" i="0" sz="1200" u="none" cap="none" strike="noStrike"/>
          </a:p>
        </p:txBody>
      </p:sp>
      <p:sp>
        <p:nvSpPr>
          <p:cNvPr id="62" name="Google Shape;62;p17"/>
          <p:cNvSpPr txBox="1"/>
          <p:nvPr/>
        </p:nvSpPr>
        <p:spPr>
          <a:xfrm>
            <a:off x="3357000" y="3997025"/>
            <a:ext cx="2854500" cy="692700"/>
          </a:xfrm>
          <a:prstGeom prst="rect">
            <a:avLst/>
          </a:prstGeom>
          <a:noFill/>
          <a:ln>
            <a:noFill/>
          </a:ln>
        </p:spPr>
        <p:txBody>
          <a:bodyPr anchorCtr="0" anchor="t" bIns="68575" lIns="68575" spcFirstLastPara="1" rIns="68575" wrap="square" tIns="68575">
            <a:spAutoFit/>
          </a:bodyPr>
          <a:lstStyle/>
          <a:p>
            <a:pPr indent="0" lvl="0" marL="0" rtl="0" algn="l">
              <a:spcBef>
                <a:spcPts val="0"/>
              </a:spcBef>
              <a:spcAft>
                <a:spcPts val="0"/>
              </a:spcAft>
              <a:buNone/>
            </a:pPr>
            <a:r>
              <a:rPr lang="en" sz="1200"/>
              <a:t>20220373 	Hesham Abdelnaser Ali 20221151 	Mostafa Mahmoud Hosni 20220212 	Ali Raouf Muhammed</a:t>
            </a:r>
            <a:endParaRPr sz="1200"/>
          </a:p>
        </p:txBody>
      </p:sp>
      <p:sp>
        <p:nvSpPr>
          <p:cNvPr id="63" name="Google Shape;63;p17"/>
          <p:cNvSpPr txBox="1"/>
          <p:nvPr/>
        </p:nvSpPr>
        <p:spPr>
          <a:xfrm>
            <a:off x="3894538" y="3722488"/>
            <a:ext cx="1355100" cy="3078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1100"/>
              <a:t>Team Members</a:t>
            </a:r>
            <a:endParaRPr sz="1100"/>
          </a:p>
        </p:txBody>
      </p:sp>
      <p:sp>
        <p:nvSpPr>
          <p:cNvPr id="64" name="Google Shape;64;p17"/>
          <p:cNvSpPr txBox="1"/>
          <p:nvPr/>
        </p:nvSpPr>
        <p:spPr>
          <a:xfrm>
            <a:off x="3894438" y="2799531"/>
            <a:ext cx="1355100" cy="3078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1100"/>
              <a:t>Supervision</a:t>
            </a:r>
            <a:endParaRPr sz="1100"/>
          </a:p>
        </p:txBody>
      </p:sp>
      <p:sp>
        <p:nvSpPr>
          <p:cNvPr id="65" name="Google Shape;65;p17"/>
          <p:cNvSpPr txBox="1"/>
          <p:nvPr/>
        </p:nvSpPr>
        <p:spPr>
          <a:xfrm>
            <a:off x="3447025" y="3099681"/>
            <a:ext cx="2250000" cy="507900"/>
          </a:xfrm>
          <a:prstGeom prst="rect">
            <a:avLst/>
          </a:prstGeom>
          <a:noFill/>
          <a:ln>
            <a:noFill/>
          </a:ln>
        </p:spPr>
        <p:txBody>
          <a:bodyPr anchorCtr="0" anchor="t" bIns="68575" lIns="68575" spcFirstLastPara="1" rIns="68575" wrap="square" tIns="68575">
            <a:spAutoFit/>
          </a:bodyPr>
          <a:lstStyle/>
          <a:p>
            <a:pPr indent="0" lvl="0" marL="0" rtl="0" algn="ctr">
              <a:spcBef>
                <a:spcPts val="0"/>
              </a:spcBef>
              <a:spcAft>
                <a:spcPts val="0"/>
              </a:spcAft>
              <a:buNone/>
            </a:pPr>
            <a:r>
              <a:rPr lang="en" sz="1200"/>
              <a:t>Dr. Basher Abdelfattah </a:t>
            </a:r>
            <a:endParaRPr sz="1200"/>
          </a:p>
          <a:p>
            <a:pPr indent="0" lvl="0" marL="0" rtl="0" algn="ctr">
              <a:spcBef>
                <a:spcPts val="0"/>
              </a:spcBef>
              <a:spcAft>
                <a:spcPts val="0"/>
              </a:spcAft>
              <a:buNone/>
            </a:pPr>
            <a:r>
              <a:rPr lang="en" sz="1200"/>
              <a:t>TA. Muhammad Atta</a:t>
            </a:r>
            <a:endParaRPr sz="1200"/>
          </a:p>
        </p:txBody>
      </p:sp>
      <p:pic>
        <p:nvPicPr>
          <p:cNvPr id="66" name="Google Shape;66;p17"/>
          <p:cNvPicPr preferRelativeResize="0"/>
          <p:nvPr/>
        </p:nvPicPr>
        <p:blipFill rotWithShape="1">
          <a:blip r:embed="rId3">
            <a:alphaModFix/>
          </a:blip>
          <a:srcRect b="0" l="0" r="55251" t="0"/>
          <a:stretch/>
        </p:blipFill>
        <p:spPr>
          <a:xfrm>
            <a:off x="879025" y="153200"/>
            <a:ext cx="2053476" cy="1258600"/>
          </a:xfrm>
          <a:prstGeom prst="rect">
            <a:avLst/>
          </a:prstGeom>
          <a:noFill/>
          <a:ln>
            <a:noFill/>
          </a:ln>
        </p:spPr>
      </p:pic>
      <p:pic>
        <p:nvPicPr>
          <p:cNvPr id="67" name="Google Shape;67;p17"/>
          <p:cNvPicPr preferRelativeResize="0"/>
          <p:nvPr/>
        </p:nvPicPr>
        <p:blipFill rotWithShape="1">
          <a:blip r:embed="rId3">
            <a:alphaModFix/>
          </a:blip>
          <a:srcRect b="0" l="78484" r="0" t="0"/>
          <a:stretch/>
        </p:blipFill>
        <p:spPr>
          <a:xfrm>
            <a:off x="6408693" y="153198"/>
            <a:ext cx="1023355" cy="1258600"/>
          </a:xfrm>
          <a:prstGeom prst="rect">
            <a:avLst/>
          </a:prstGeom>
          <a:noFill/>
          <a:ln>
            <a:noFill/>
          </a:ln>
        </p:spPr>
      </p:pic>
      <p:sp>
        <p:nvSpPr>
          <p:cNvPr id="68" name="Google Shape;68;p17"/>
          <p:cNvSpPr/>
          <p:nvPr/>
        </p:nvSpPr>
        <p:spPr>
          <a:xfrm>
            <a:off x="3219721" y="4703584"/>
            <a:ext cx="3129000" cy="35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lang="en" sz="1000">
                <a:solidFill>
                  <a:srgbClr val="64748B"/>
                </a:solidFill>
                <a:latin typeface="Quattrocento Sans"/>
                <a:ea typeface="Quattrocento Sans"/>
                <a:cs typeface="Quattrocento Sans"/>
                <a:sym typeface="Quattrocento Sans"/>
              </a:rPr>
              <a:t>Graduation Project Final Presentation</a:t>
            </a:r>
            <a:br>
              <a:rPr lang="en" sz="1000">
                <a:solidFill>
                  <a:srgbClr val="64748B"/>
                </a:solidFill>
                <a:latin typeface="Quattrocento Sans"/>
                <a:ea typeface="Quattrocento Sans"/>
                <a:cs typeface="Quattrocento Sans"/>
                <a:sym typeface="Quattrocento Sans"/>
              </a:rPr>
            </a:br>
            <a:r>
              <a:rPr lang="en" sz="1000">
                <a:solidFill>
                  <a:srgbClr val="64748B"/>
                </a:solidFill>
                <a:latin typeface="Quattrocento Sans"/>
                <a:ea typeface="Quattrocento Sans"/>
                <a:cs typeface="Quattrocento Sans"/>
                <a:sym typeface="Quattrocento Sans"/>
              </a:rPr>
              <a:t>Academic Year 2025/2026</a:t>
            </a:r>
            <a:endParaRPr b="0" i="0" sz="1000" u="none" cap="none" strike="noStrike"/>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73" name="Shape 73"/>
        <p:cNvGrpSpPr/>
        <p:nvPr/>
      </p:nvGrpSpPr>
      <p:grpSpPr>
        <a:xfrm>
          <a:off x="0" y="0"/>
          <a:ext cx="0" cy="0"/>
          <a:chOff x="0" y="0"/>
          <a:chExt cx="0" cy="0"/>
        </a:xfrm>
      </p:grpSpPr>
      <p:sp>
        <p:nvSpPr>
          <p:cNvPr id="74" name="Google Shape;74;p18"/>
          <p:cNvSpPr/>
          <p:nvPr/>
        </p:nvSpPr>
        <p:spPr>
          <a:xfrm>
            <a:off x="285750" y="531673"/>
            <a:ext cx="8744100" cy="3687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 sz="2700">
                <a:solidFill>
                  <a:srgbClr val="1E293B"/>
                </a:solidFill>
                <a:latin typeface="Liter"/>
                <a:ea typeface="Liter"/>
                <a:cs typeface="Liter"/>
                <a:sym typeface="Liter"/>
              </a:rPr>
              <a:t>The Problem: Fragile Web Test Automation</a:t>
            </a:r>
            <a:endParaRPr b="0" i="0" sz="1200" u="none" cap="none" strike="noStrike"/>
          </a:p>
        </p:txBody>
      </p:sp>
      <p:sp>
        <p:nvSpPr>
          <p:cNvPr id="75" name="Google Shape;75;p18"/>
          <p:cNvSpPr/>
          <p:nvPr/>
        </p:nvSpPr>
        <p:spPr>
          <a:xfrm>
            <a:off x="285750" y="992779"/>
            <a:ext cx="571500" cy="30766"/>
          </a:xfrm>
          <a:custGeom>
            <a:rect b="b" l="l" r="r" t="t"/>
            <a:pathLst>
              <a:path extrusionOk="0" h="38100" w="762000">
                <a:moveTo>
                  <a:pt x="0" y="0"/>
                </a:moveTo>
                <a:lnTo>
                  <a:pt x="762000" y="0"/>
                </a:lnTo>
                <a:lnTo>
                  <a:pt x="762000" y="38100"/>
                </a:lnTo>
                <a:lnTo>
                  <a:pt x="0" y="38100"/>
                </a:lnTo>
                <a:lnTo>
                  <a:pt x="0" y="0"/>
                </a:lnTo>
                <a:close/>
              </a:path>
            </a:pathLst>
          </a:custGeom>
          <a:solidFill>
            <a:srgbClr val="2563EB"/>
          </a:solidFill>
          <a:ln>
            <a:noFill/>
          </a:ln>
        </p:spPr>
      </p:sp>
      <p:sp>
        <p:nvSpPr>
          <p:cNvPr id="76" name="Google Shape;76;p18"/>
          <p:cNvSpPr/>
          <p:nvPr/>
        </p:nvSpPr>
        <p:spPr>
          <a:xfrm>
            <a:off x="325438" y="1600543"/>
            <a:ext cx="4257600" cy="246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 sz="1400" u="none" cap="none" strike="noStrike">
                <a:solidFill>
                  <a:srgbClr val="1E293B"/>
                </a:solidFill>
                <a:latin typeface="Liter"/>
                <a:ea typeface="Liter"/>
                <a:cs typeface="Liter"/>
                <a:sym typeface="Liter"/>
              </a:rPr>
              <a:t>Current State of Web Testing</a:t>
            </a:r>
            <a:endParaRPr b="0" i="0" sz="1200" u="none" cap="none" strike="noStrike"/>
          </a:p>
        </p:txBody>
      </p:sp>
      <p:sp>
        <p:nvSpPr>
          <p:cNvPr id="77" name="Google Shape;77;p18"/>
          <p:cNvSpPr/>
          <p:nvPr/>
        </p:nvSpPr>
        <p:spPr>
          <a:xfrm>
            <a:off x="325438" y="1969428"/>
            <a:ext cx="4236300" cy="676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1000">
                <a:solidFill>
                  <a:srgbClr val="1E293B"/>
                </a:solidFill>
                <a:latin typeface="Quattrocento Sans"/>
                <a:ea typeface="Quattrocento Sans"/>
                <a:cs typeface="Quattrocento Sans"/>
                <a:sym typeface="Quattrocento Sans"/>
              </a:rPr>
              <a:t>Quality Assurance has evolved from manual testing to automated frameworks, but a fundamental weakness remains: tests are coupled to implementation details.</a:t>
            </a:r>
            <a:endParaRPr i="0" sz="1000" u="none" cap="none" strike="noStrike">
              <a:solidFill>
                <a:srgbClr val="1E293B"/>
              </a:solidFill>
              <a:latin typeface="Quattrocento Sans"/>
              <a:ea typeface="Quattrocento Sans"/>
              <a:cs typeface="Quattrocento Sans"/>
              <a:sym typeface="Quattrocento Sans"/>
            </a:endParaRPr>
          </a:p>
        </p:txBody>
      </p:sp>
      <p:sp>
        <p:nvSpPr>
          <p:cNvPr id="78" name="Google Shape;78;p18"/>
          <p:cNvSpPr/>
          <p:nvPr/>
        </p:nvSpPr>
        <p:spPr>
          <a:xfrm>
            <a:off x="325438" y="2643570"/>
            <a:ext cx="4236300" cy="8994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1000">
                <a:solidFill>
                  <a:srgbClr val="1E293B"/>
                </a:solidFill>
                <a:latin typeface="Quattrocento Sans"/>
                <a:ea typeface="Quattrocento Sans"/>
                <a:cs typeface="Quattrocento Sans"/>
                <a:sym typeface="Quattrocento Sans"/>
              </a:rPr>
              <a:t>Frameworks like Selenium and Playwright rely on DOM-dependent strategies (CSS selectors, XPath). When UIs are refactored, these selectors break, creating a high maintenance burden.</a:t>
            </a:r>
            <a:endParaRPr b="0" i="0" sz="1200" u="none" cap="none" strike="noStrike"/>
          </a:p>
        </p:txBody>
      </p:sp>
      <p:sp>
        <p:nvSpPr>
          <p:cNvPr id="79" name="Google Shape;79;p18"/>
          <p:cNvSpPr/>
          <p:nvPr/>
        </p:nvSpPr>
        <p:spPr>
          <a:xfrm>
            <a:off x="4903869" y="1600551"/>
            <a:ext cx="3914700" cy="2460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 sz="1400" u="none" cap="none" strike="noStrike">
                <a:solidFill>
                  <a:srgbClr val="1E293B"/>
                </a:solidFill>
                <a:latin typeface="Liter"/>
                <a:ea typeface="Liter"/>
                <a:cs typeface="Liter"/>
                <a:sym typeface="Liter"/>
              </a:rPr>
              <a:t>The Selector Fragility Problem</a:t>
            </a:r>
            <a:endParaRPr b="0" i="0" sz="1200" u="none" cap="none" strike="noStrike"/>
          </a:p>
        </p:txBody>
      </p:sp>
      <p:sp>
        <p:nvSpPr>
          <p:cNvPr id="80" name="Google Shape;80;p18"/>
          <p:cNvSpPr/>
          <p:nvPr/>
        </p:nvSpPr>
        <p:spPr>
          <a:xfrm>
            <a:off x="5068606" y="1944465"/>
            <a:ext cx="2843400" cy="2151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 sz="1000" u="none" cap="none" strike="noStrike">
                <a:solidFill>
                  <a:srgbClr val="1E293B"/>
                </a:solidFill>
                <a:latin typeface="Quattrocento Sans"/>
                <a:ea typeface="Quattrocento Sans"/>
                <a:cs typeface="Quattrocento Sans"/>
                <a:sym typeface="Quattrocento Sans"/>
              </a:rPr>
              <a:t>DOM Structure Changes</a:t>
            </a:r>
            <a:endParaRPr b="0" i="0" sz="1200" u="none" cap="none" strike="noStrike"/>
          </a:p>
        </p:txBody>
      </p:sp>
      <p:sp>
        <p:nvSpPr>
          <p:cNvPr id="81" name="Google Shape;81;p18"/>
          <p:cNvSpPr/>
          <p:nvPr/>
        </p:nvSpPr>
        <p:spPr>
          <a:xfrm>
            <a:off x="5068606" y="2190388"/>
            <a:ext cx="2836200" cy="184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 sz="900" u="none" cap="none" strike="noStrike">
                <a:solidFill>
                  <a:srgbClr val="64748B"/>
                </a:solidFill>
                <a:latin typeface="Quattrocento Sans"/>
                <a:ea typeface="Quattrocento Sans"/>
                <a:cs typeface="Quattrocento Sans"/>
                <a:sym typeface="Quattrocento Sans"/>
              </a:rPr>
              <a:t>Elements move within hierarchy, identifiers get renamed</a:t>
            </a:r>
            <a:endParaRPr b="0" i="0" sz="1200" u="none" cap="none" strike="noStrike"/>
          </a:p>
        </p:txBody>
      </p:sp>
      <p:sp>
        <p:nvSpPr>
          <p:cNvPr id="82" name="Google Shape;82;p18"/>
          <p:cNvSpPr/>
          <p:nvPr/>
        </p:nvSpPr>
        <p:spPr>
          <a:xfrm>
            <a:off x="5068606" y="2497792"/>
            <a:ext cx="2393100" cy="2151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 sz="1000" u="none" cap="none" strike="noStrike">
                <a:solidFill>
                  <a:srgbClr val="1E293B"/>
                </a:solidFill>
                <a:latin typeface="Quattrocento Sans"/>
                <a:ea typeface="Quattrocento Sans"/>
                <a:cs typeface="Quattrocento Sans"/>
                <a:sym typeface="Quattrocento Sans"/>
              </a:rPr>
              <a:t>Component Evolution</a:t>
            </a:r>
            <a:endParaRPr b="0" i="0" sz="1200" u="none" cap="none" strike="noStrike"/>
          </a:p>
        </p:txBody>
      </p:sp>
      <p:sp>
        <p:nvSpPr>
          <p:cNvPr id="83" name="Google Shape;83;p18"/>
          <p:cNvSpPr/>
          <p:nvPr/>
        </p:nvSpPr>
        <p:spPr>
          <a:xfrm>
            <a:off x="5068606" y="2743715"/>
            <a:ext cx="2385900" cy="184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 sz="900" u="none" cap="none" strike="noStrike">
                <a:solidFill>
                  <a:srgbClr val="64748B"/>
                </a:solidFill>
                <a:latin typeface="Quattrocento Sans"/>
                <a:ea typeface="Quattrocento Sans"/>
                <a:cs typeface="Quattrocento Sans"/>
                <a:sym typeface="Quattrocento Sans"/>
              </a:rPr>
              <a:t>Composition changes invalidate dozens of tests</a:t>
            </a:r>
            <a:endParaRPr b="0" i="0" sz="1200" u="none" cap="none" strike="noStrike"/>
          </a:p>
        </p:txBody>
      </p:sp>
      <p:sp>
        <p:nvSpPr>
          <p:cNvPr id="84" name="Google Shape;84;p18"/>
          <p:cNvSpPr/>
          <p:nvPr/>
        </p:nvSpPr>
        <p:spPr>
          <a:xfrm>
            <a:off x="5068606" y="3051119"/>
            <a:ext cx="2021700" cy="2151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 sz="1000" u="none" cap="none" strike="noStrike">
                <a:solidFill>
                  <a:srgbClr val="1E293B"/>
                </a:solidFill>
                <a:latin typeface="Quattrocento Sans"/>
                <a:ea typeface="Quattrocento Sans"/>
                <a:cs typeface="Quattrocento Sans"/>
                <a:sym typeface="Quattrocento Sans"/>
              </a:rPr>
              <a:t>Maintenance Burden</a:t>
            </a:r>
            <a:endParaRPr b="0" i="0" sz="1200" u="none" cap="none" strike="noStrike"/>
          </a:p>
        </p:txBody>
      </p:sp>
      <p:sp>
        <p:nvSpPr>
          <p:cNvPr id="85" name="Google Shape;85;p18"/>
          <p:cNvSpPr/>
          <p:nvPr/>
        </p:nvSpPr>
        <p:spPr>
          <a:xfrm>
            <a:off x="5068606" y="3297043"/>
            <a:ext cx="2014800" cy="1845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0" i="0" lang="en" sz="900" u="none" cap="none" strike="noStrike">
                <a:solidFill>
                  <a:srgbClr val="64748B"/>
                </a:solidFill>
                <a:latin typeface="Quattrocento Sans"/>
                <a:ea typeface="Quattrocento Sans"/>
                <a:cs typeface="Quattrocento Sans"/>
                <a:sym typeface="Quattrocento Sans"/>
              </a:rPr>
              <a:t>Cost grows with application complexity</a:t>
            </a:r>
            <a:endParaRPr b="0" i="0" sz="1200" u="none" cap="none" strike="noStrike"/>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90" name="Shape 90"/>
        <p:cNvGrpSpPr/>
        <p:nvPr/>
      </p:nvGrpSpPr>
      <p:grpSpPr>
        <a:xfrm>
          <a:off x="0" y="0"/>
          <a:ext cx="0" cy="0"/>
          <a:chOff x="0" y="0"/>
          <a:chExt cx="0" cy="0"/>
        </a:xfrm>
      </p:grpSpPr>
      <p:pic>
        <p:nvPicPr>
          <p:cNvPr id="91" name="Google Shape;91;p19" title="presentation_img_1.png"/>
          <p:cNvPicPr preferRelativeResize="0"/>
          <p:nvPr/>
        </p:nvPicPr>
        <p:blipFill rotWithShape="1">
          <a:blip r:embed="rId3">
            <a:alphaModFix/>
          </a:blip>
          <a:srcRect b="0" l="0" r="0" t="11637"/>
          <a:stretch/>
        </p:blipFill>
        <p:spPr>
          <a:xfrm>
            <a:off x="165613" y="150325"/>
            <a:ext cx="8812774" cy="4275651"/>
          </a:xfrm>
          <a:prstGeom prst="rect">
            <a:avLst/>
          </a:prstGeom>
          <a:noFill/>
          <a:ln>
            <a:noFill/>
          </a:ln>
        </p:spPr>
      </p:pic>
      <p:sp>
        <p:nvSpPr>
          <p:cNvPr id="92" name="Google Shape;92;p19"/>
          <p:cNvSpPr txBox="1"/>
          <p:nvPr/>
        </p:nvSpPr>
        <p:spPr>
          <a:xfrm>
            <a:off x="1438950" y="4483975"/>
            <a:ext cx="6266100" cy="43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1E293B"/>
                </a:solidFill>
                <a:latin typeface="Quattrocento Sans"/>
                <a:ea typeface="Quattrocento Sans"/>
                <a:cs typeface="Quattrocento Sans"/>
                <a:sym typeface="Quattrocento Sans"/>
              </a:rPr>
              <a:t>This creates a maintenance death spiral. You write a test, the UI changes, the test breaks, you fix it, and the cycle repeats. It’s a significant expense for software teams and makes CI/CD pipelines unreliable.</a:t>
            </a:r>
            <a:endParaRPr sz="1000">
              <a:solidFill>
                <a:srgbClr val="1E293B"/>
              </a:solidFill>
              <a:latin typeface="Quattrocento Sans"/>
              <a:ea typeface="Quattrocento Sans"/>
              <a:cs typeface="Quattrocento Sans"/>
              <a:sym typeface="Quattrocento Sans"/>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97" name="Shape 97"/>
        <p:cNvGrpSpPr/>
        <p:nvPr/>
      </p:nvGrpSpPr>
      <p:grpSpPr>
        <a:xfrm>
          <a:off x="0" y="0"/>
          <a:ext cx="0" cy="0"/>
          <a:chOff x="0" y="0"/>
          <a:chExt cx="0" cy="0"/>
        </a:xfrm>
      </p:grpSpPr>
      <p:sp>
        <p:nvSpPr>
          <p:cNvPr id="98" name="Google Shape;98;p20"/>
          <p:cNvSpPr/>
          <p:nvPr/>
        </p:nvSpPr>
        <p:spPr>
          <a:xfrm>
            <a:off x="285750" y="514350"/>
            <a:ext cx="8744100" cy="3429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i="0" lang="en" sz="2700" u="none" cap="none" strike="noStrike">
                <a:solidFill>
                  <a:srgbClr val="1E293B"/>
                </a:solidFill>
                <a:latin typeface="Liter"/>
                <a:ea typeface="Liter"/>
                <a:cs typeface="Liter"/>
                <a:sym typeface="Liter"/>
              </a:rPr>
              <a:t>Project Vision &amp; Objectives</a:t>
            </a:r>
            <a:endParaRPr b="0" i="0" sz="1200" u="none" cap="none" strike="noStrike"/>
          </a:p>
        </p:txBody>
      </p:sp>
      <p:sp>
        <p:nvSpPr>
          <p:cNvPr id="99" name="Google Shape;99;p20"/>
          <p:cNvSpPr/>
          <p:nvPr/>
        </p:nvSpPr>
        <p:spPr>
          <a:xfrm>
            <a:off x="285750" y="942975"/>
            <a:ext cx="571500" cy="28575"/>
          </a:xfrm>
          <a:custGeom>
            <a:rect b="b" l="l" r="r" t="t"/>
            <a:pathLst>
              <a:path extrusionOk="0" h="38100" w="762000">
                <a:moveTo>
                  <a:pt x="0" y="0"/>
                </a:moveTo>
                <a:lnTo>
                  <a:pt x="762000" y="0"/>
                </a:lnTo>
                <a:lnTo>
                  <a:pt x="762000" y="38100"/>
                </a:lnTo>
                <a:lnTo>
                  <a:pt x="0" y="38100"/>
                </a:lnTo>
                <a:lnTo>
                  <a:pt x="0" y="0"/>
                </a:lnTo>
                <a:close/>
              </a:path>
            </a:pathLst>
          </a:custGeom>
          <a:solidFill>
            <a:srgbClr val="2563EB"/>
          </a:solidFill>
          <a:ln>
            <a:noFill/>
          </a:ln>
        </p:spPr>
      </p:sp>
      <p:sp>
        <p:nvSpPr>
          <p:cNvPr id="100" name="Google Shape;100;p20"/>
          <p:cNvSpPr/>
          <p:nvPr/>
        </p:nvSpPr>
        <p:spPr>
          <a:xfrm>
            <a:off x="285750" y="1237655"/>
            <a:ext cx="7386900" cy="4644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1100">
                <a:solidFill>
                  <a:srgbClr val="1E293B"/>
                </a:solidFill>
                <a:latin typeface="Quattrocento Sans"/>
                <a:ea typeface="Quattrocento Sans"/>
                <a:cs typeface="Quattrocento Sans"/>
                <a:sym typeface="Quattrocento Sans"/>
              </a:rPr>
              <a:t>TestPilot’s aim was to create an autonomous testing agent that reduces maintenance overhead and improves reliability by executing acceptance tests directly from natural language steps.</a:t>
            </a:r>
            <a:endParaRPr b="0" i="0" sz="1200" u="none" cap="none" strike="noStrike"/>
          </a:p>
        </p:txBody>
      </p:sp>
      <p:sp>
        <p:nvSpPr>
          <p:cNvPr id="101" name="Google Shape;101;p20"/>
          <p:cNvSpPr/>
          <p:nvPr/>
        </p:nvSpPr>
        <p:spPr>
          <a:xfrm>
            <a:off x="446425" y="2021048"/>
            <a:ext cx="400050" cy="400050"/>
          </a:xfrm>
          <a:custGeom>
            <a:rect b="b" l="l" r="r" t="t"/>
            <a:pathLst>
              <a:path extrusionOk="0" h="533400" w="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2563EB">
              <a:alpha val="9799"/>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2" name="Google Shape;102;p20"/>
          <p:cNvSpPr/>
          <p:nvPr/>
        </p:nvSpPr>
        <p:spPr>
          <a:xfrm>
            <a:off x="535164" y="2092486"/>
            <a:ext cx="328800" cy="25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 sz="1700" u="none" cap="none" strike="noStrike">
                <a:solidFill>
                  <a:srgbClr val="2563EB"/>
                </a:solidFill>
                <a:latin typeface="Liter"/>
                <a:ea typeface="Liter"/>
                <a:cs typeface="Liter"/>
                <a:sym typeface="Liter"/>
              </a:rPr>
              <a:t>01</a:t>
            </a:r>
            <a:endParaRPr b="0" i="0" sz="1200" u="none" cap="none" strike="noStrike"/>
          </a:p>
        </p:txBody>
      </p:sp>
      <p:sp>
        <p:nvSpPr>
          <p:cNvPr id="103" name="Google Shape;103;p20"/>
          <p:cNvSpPr/>
          <p:nvPr/>
        </p:nvSpPr>
        <p:spPr>
          <a:xfrm>
            <a:off x="446425" y="2535398"/>
            <a:ext cx="2486100" cy="228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 sz="1400" u="none" cap="none" strike="noStrike">
                <a:solidFill>
                  <a:srgbClr val="1E293B"/>
                </a:solidFill>
                <a:latin typeface="Liter"/>
                <a:ea typeface="Liter"/>
                <a:cs typeface="Liter"/>
                <a:sym typeface="Liter"/>
              </a:rPr>
              <a:t>Eliminate Selector Maintenance</a:t>
            </a:r>
            <a:endParaRPr b="0" i="0" sz="1200" u="none" cap="none" strike="noStrike"/>
          </a:p>
        </p:txBody>
      </p:sp>
      <p:sp>
        <p:nvSpPr>
          <p:cNvPr id="104" name="Google Shape;104;p20"/>
          <p:cNvSpPr/>
          <p:nvPr/>
        </p:nvSpPr>
        <p:spPr>
          <a:xfrm>
            <a:off x="446425" y="2849723"/>
            <a:ext cx="2457600" cy="7431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900">
                <a:solidFill>
                  <a:srgbClr val="1E293B"/>
                </a:solidFill>
                <a:latin typeface="Quattrocento Sans"/>
                <a:ea typeface="Quattrocento Sans"/>
                <a:cs typeface="Quattrocento Sans"/>
                <a:sym typeface="Quattrocento Sans"/>
              </a:rPr>
              <a:t>Tests survive UI refactoring by grounding actions in observable UI state (screenshots &amp; structure) instead of pre-written selectors.</a:t>
            </a:r>
            <a:endParaRPr b="0" i="0" sz="1200" u="none" cap="none" strike="noStrike">
              <a:solidFill>
                <a:srgbClr val="1E293B"/>
              </a:solidFill>
            </a:endParaRPr>
          </a:p>
        </p:txBody>
      </p:sp>
      <p:sp>
        <p:nvSpPr>
          <p:cNvPr id="105" name="Google Shape;105;p20"/>
          <p:cNvSpPr/>
          <p:nvPr/>
        </p:nvSpPr>
        <p:spPr>
          <a:xfrm>
            <a:off x="3361075" y="2021048"/>
            <a:ext cx="400050" cy="400050"/>
          </a:xfrm>
          <a:custGeom>
            <a:rect b="b" l="l" r="r" t="t"/>
            <a:pathLst>
              <a:path extrusionOk="0" h="533400" w="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0EA5E9">
              <a:alpha val="9799"/>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6" name="Google Shape;106;p20"/>
          <p:cNvSpPr/>
          <p:nvPr/>
        </p:nvSpPr>
        <p:spPr>
          <a:xfrm>
            <a:off x="3430392" y="2092486"/>
            <a:ext cx="371400" cy="25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 sz="1700" u="none" cap="none" strike="noStrike">
                <a:solidFill>
                  <a:srgbClr val="0EA5E9"/>
                </a:solidFill>
                <a:latin typeface="Liter"/>
                <a:ea typeface="Liter"/>
                <a:cs typeface="Liter"/>
                <a:sym typeface="Liter"/>
              </a:rPr>
              <a:t>02</a:t>
            </a:r>
            <a:endParaRPr b="0" i="0" sz="1200" u="none" cap="none" strike="noStrike"/>
          </a:p>
        </p:txBody>
      </p:sp>
      <p:sp>
        <p:nvSpPr>
          <p:cNvPr id="107" name="Google Shape;107;p20"/>
          <p:cNvSpPr/>
          <p:nvPr/>
        </p:nvSpPr>
        <p:spPr>
          <a:xfrm>
            <a:off x="3361075" y="2535398"/>
            <a:ext cx="2486100" cy="228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 sz="1400" u="none" cap="none" strike="noStrike">
                <a:solidFill>
                  <a:srgbClr val="1E293B"/>
                </a:solidFill>
                <a:latin typeface="Liter"/>
                <a:ea typeface="Liter"/>
                <a:cs typeface="Liter"/>
                <a:sym typeface="Liter"/>
              </a:rPr>
              <a:t>Accessible Test Creation</a:t>
            </a:r>
            <a:endParaRPr b="0" i="0" sz="1200" u="none" cap="none" strike="noStrike"/>
          </a:p>
        </p:txBody>
      </p:sp>
      <p:sp>
        <p:nvSpPr>
          <p:cNvPr id="108" name="Google Shape;108;p20"/>
          <p:cNvSpPr/>
          <p:nvPr/>
        </p:nvSpPr>
        <p:spPr>
          <a:xfrm>
            <a:off x="3361075" y="2849723"/>
            <a:ext cx="2457600" cy="7431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900">
                <a:solidFill>
                  <a:srgbClr val="1E293B"/>
                </a:solidFill>
                <a:latin typeface="Quattrocento Sans"/>
                <a:ea typeface="Quattrocento Sans"/>
                <a:cs typeface="Quattrocento Sans"/>
                <a:sym typeface="Quattrocento Sans"/>
              </a:rPr>
              <a:t>Allows stakeholders (PMs, BAs) to contribute to automation, bridging the gap between business requirements and technical implementation.</a:t>
            </a:r>
            <a:endParaRPr b="0" i="0" sz="1200" u="none" cap="none" strike="noStrike">
              <a:solidFill>
                <a:srgbClr val="1E293B"/>
              </a:solidFill>
            </a:endParaRPr>
          </a:p>
        </p:txBody>
      </p:sp>
      <p:sp>
        <p:nvSpPr>
          <p:cNvPr id="109" name="Google Shape;109;p20"/>
          <p:cNvSpPr/>
          <p:nvPr/>
        </p:nvSpPr>
        <p:spPr>
          <a:xfrm>
            <a:off x="6275725" y="2021048"/>
            <a:ext cx="400050" cy="400050"/>
          </a:xfrm>
          <a:custGeom>
            <a:rect b="b" l="l" r="r" t="t"/>
            <a:pathLst>
              <a:path extrusionOk="0" h="533400" w="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64748B">
              <a:alpha val="9799"/>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0" name="Google Shape;110;p20"/>
          <p:cNvSpPr/>
          <p:nvPr/>
        </p:nvSpPr>
        <p:spPr>
          <a:xfrm>
            <a:off x="6344149" y="2092486"/>
            <a:ext cx="371400" cy="257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en" sz="1700" u="none" cap="none" strike="noStrike">
                <a:solidFill>
                  <a:srgbClr val="64748B"/>
                </a:solidFill>
                <a:latin typeface="Liter"/>
                <a:ea typeface="Liter"/>
                <a:cs typeface="Liter"/>
                <a:sym typeface="Liter"/>
              </a:rPr>
              <a:t>03</a:t>
            </a:r>
            <a:endParaRPr b="0" i="0" sz="1200" u="none" cap="none" strike="noStrike"/>
          </a:p>
        </p:txBody>
      </p:sp>
      <p:sp>
        <p:nvSpPr>
          <p:cNvPr id="111" name="Google Shape;111;p20"/>
          <p:cNvSpPr/>
          <p:nvPr/>
        </p:nvSpPr>
        <p:spPr>
          <a:xfrm>
            <a:off x="6275725" y="2535398"/>
            <a:ext cx="2486100" cy="2286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 sz="1400" u="none" cap="none" strike="noStrike">
                <a:solidFill>
                  <a:srgbClr val="1E293B"/>
                </a:solidFill>
                <a:latin typeface="Liter"/>
                <a:ea typeface="Liter"/>
                <a:cs typeface="Liter"/>
                <a:sym typeface="Liter"/>
              </a:rPr>
              <a:t>Visual Verification</a:t>
            </a:r>
            <a:endParaRPr b="0" i="0" sz="1200" u="none" cap="none" strike="noStrike"/>
          </a:p>
        </p:txBody>
      </p:sp>
      <p:sp>
        <p:nvSpPr>
          <p:cNvPr id="112" name="Google Shape;112;p20"/>
          <p:cNvSpPr/>
          <p:nvPr/>
        </p:nvSpPr>
        <p:spPr>
          <a:xfrm>
            <a:off x="6275725" y="2849723"/>
            <a:ext cx="2457600" cy="7431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900">
                <a:solidFill>
                  <a:srgbClr val="1E293B"/>
                </a:solidFill>
                <a:latin typeface="Quattrocento Sans"/>
                <a:ea typeface="Quattrocento Sans"/>
                <a:cs typeface="Quattrocento Sans"/>
                <a:sym typeface="Quattrocento Sans"/>
              </a:rPr>
              <a:t>Validate the actual user experience—confirming elements are visible, interactable, and not merely present in the DOM.</a:t>
            </a:r>
            <a:endParaRPr b="0" i="0" sz="1200" u="none" cap="none" strike="noStrike">
              <a:solidFill>
                <a:srgbClr val="1E293B"/>
              </a:solidFill>
            </a:endParaRPr>
          </a:p>
        </p:txBody>
      </p:sp>
      <p:sp>
        <p:nvSpPr>
          <p:cNvPr id="113" name="Google Shape;113;p20"/>
          <p:cNvSpPr/>
          <p:nvPr/>
        </p:nvSpPr>
        <p:spPr>
          <a:xfrm>
            <a:off x="289322" y="3887596"/>
            <a:ext cx="8565356" cy="714375"/>
          </a:xfrm>
          <a:custGeom>
            <a:rect b="b" l="l" r="r" t="t"/>
            <a:pathLst>
              <a:path extrusionOk="0" h="952500" w="11420475">
                <a:moveTo>
                  <a:pt x="114300" y="0"/>
                </a:moveTo>
                <a:lnTo>
                  <a:pt x="11306175" y="0"/>
                </a:lnTo>
                <a:cubicBezTo>
                  <a:pt x="11369259" y="0"/>
                  <a:pt x="11420475" y="51216"/>
                  <a:pt x="11420475" y="114300"/>
                </a:cubicBezTo>
                <a:lnTo>
                  <a:pt x="11420475" y="838200"/>
                </a:lnTo>
                <a:cubicBezTo>
                  <a:pt x="11420475" y="901284"/>
                  <a:pt x="11369259" y="952500"/>
                  <a:pt x="11306175" y="952500"/>
                </a:cubicBezTo>
                <a:lnTo>
                  <a:pt x="114300" y="952500"/>
                </a:lnTo>
                <a:cubicBezTo>
                  <a:pt x="51216" y="952500"/>
                  <a:pt x="0" y="901284"/>
                  <a:pt x="0" y="838200"/>
                </a:cubicBezTo>
                <a:lnTo>
                  <a:pt x="0" y="114300"/>
                </a:lnTo>
                <a:cubicBezTo>
                  <a:pt x="0" y="51216"/>
                  <a:pt x="51216" y="0"/>
                  <a:pt x="114300" y="0"/>
                </a:cubicBezTo>
                <a:close/>
              </a:path>
            </a:pathLst>
          </a:custGeom>
          <a:solidFill>
            <a:srgbClr val="2563EB">
              <a:alpha val="4710"/>
            </a:srgbClr>
          </a:solidFill>
          <a:ln cap="flat" cmpd="sng" w="9525">
            <a:solidFill>
              <a:srgbClr val="2563EB">
                <a:alpha val="2000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4" name="Google Shape;114;p20"/>
          <p:cNvSpPr/>
          <p:nvPr/>
        </p:nvSpPr>
        <p:spPr>
          <a:xfrm>
            <a:off x="435769" y="4034042"/>
            <a:ext cx="8336700" cy="421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1" lang="en" sz="1000">
                <a:solidFill>
                  <a:srgbClr val="2563EB"/>
                </a:solidFill>
                <a:latin typeface="Quattrocento Sans"/>
                <a:ea typeface="Quattrocento Sans"/>
                <a:cs typeface="Quattrocento Sans"/>
                <a:sym typeface="Quattrocento Sans"/>
              </a:rPr>
              <a:t>Approach</a:t>
            </a:r>
            <a:r>
              <a:rPr b="1" i="0" lang="en" sz="1000" u="none" cap="none" strike="noStrike">
                <a:solidFill>
                  <a:srgbClr val="2563EB"/>
                </a:solidFill>
                <a:latin typeface="Quattrocento Sans"/>
                <a:ea typeface="Quattrocento Sans"/>
                <a:cs typeface="Quattrocento Sans"/>
                <a:sym typeface="Quattrocento Sans"/>
              </a:rPr>
              <a:t>:</a:t>
            </a:r>
            <a:r>
              <a:rPr b="0" i="0" lang="en" sz="1000" u="none" cap="none" strike="noStrike">
                <a:solidFill>
                  <a:srgbClr val="1E293B"/>
                </a:solidFill>
                <a:latin typeface="Quattrocento Sans"/>
                <a:ea typeface="Quattrocento Sans"/>
                <a:cs typeface="Quattrocento Sans"/>
                <a:sym typeface="Quattrocento Sans"/>
              </a:rPr>
              <a:t> </a:t>
            </a:r>
            <a:r>
              <a:rPr lang="en" sz="1000">
                <a:solidFill>
                  <a:srgbClr val="1E293B"/>
                </a:solidFill>
                <a:latin typeface="Quattrocento Sans"/>
                <a:ea typeface="Quattrocento Sans"/>
                <a:cs typeface="Quattrocento Sans"/>
                <a:sym typeface="Quattrocento Sans"/>
              </a:rPr>
              <a:t>Use multi-modal LLMs to interpret natural language test cases and execute them dynamically, observing the page, reasoning, and acting without pre-written selectors. This approach can reduce reliance on fragile DOM selectors and minimize maintenance overhead.</a:t>
            </a:r>
            <a:endParaRPr b="0" i="0" sz="1200" u="none" cap="none" strike="noStrike"/>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19" name="Shape 119"/>
        <p:cNvGrpSpPr/>
        <p:nvPr/>
      </p:nvGrpSpPr>
      <p:grpSpPr>
        <a:xfrm>
          <a:off x="0" y="0"/>
          <a:ext cx="0" cy="0"/>
          <a:chOff x="0" y="0"/>
          <a:chExt cx="0" cy="0"/>
        </a:xfrm>
      </p:grpSpPr>
      <p:sp>
        <p:nvSpPr>
          <p:cNvPr id="120" name="Google Shape;120;p21"/>
          <p:cNvSpPr/>
          <p:nvPr/>
        </p:nvSpPr>
        <p:spPr>
          <a:xfrm>
            <a:off x="238125" y="428625"/>
            <a:ext cx="8810400" cy="2859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 sz="2300">
                <a:solidFill>
                  <a:srgbClr val="1E293B"/>
                </a:solidFill>
                <a:latin typeface="Liter"/>
                <a:ea typeface="Liter"/>
                <a:cs typeface="Liter"/>
                <a:sym typeface="Liter"/>
              </a:rPr>
              <a:t>Autonomous Web Agents: The Core Concept</a:t>
            </a:r>
            <a:endParaRPr b="0" i="0" sz="1200" u="none" cap="none" strike="noStrike"/>
          </a:p>
        </p:txBody>
      </p:sp>
      <p:sp>
        <p:nvSpPr>
          <p:cNvPr id="121" name="Google Shape;121;p21"/>
          <p:cNvSpPr/>
          <p:nvPr/>
        </p:nvSpPr>
        <p:spPr>
          <a:xfrm>
            <a:off x="238125" y="785813"/>
            <a:ext cx="476250" cy="23813"/>
          </a:xfrm>
          <a:custGeom>
            <a:rect b="b" l="l" r="r" t="t"/>
            <a:pathLst>
              <a:path extrusionOk="0" h="31750" w="635000">
                <a:moveTo>
                  <a:pt x="0" y="0"/>
                </a:moveTo>
                <a:lnTo>
                  <a:pt x="635000" y="0"/>
                </a:lnTo>
                <a:lnTo>
                  <a:pt x="635000" y="31750"/>
                </a:lnTo>
                <a:lnTo>
                  <a:pt x="0" y="31750"/>
                </a:lnTo>
                <a:lnTo>
                  <a:pt x="0" y="0"/>
                </a:lnTo>
                <a:close/>
              </a:path>
            </a:pathLst>
          </a:custGeom>
          <a:solidFill>
            <a:srgbClr val="2563EB"/>
          </a:solidFill>
          <a:ln>
            <a:noFill/>
          </a:ln>
        </p:spPr>
      </p:sp>
      <p:sp>
        <p:nvSpPr>
          <p:cNvPr id="122" name="Google Shape;122;p21"/>
          <p:cNvSpPr/>
          <p:nvPr/>
        </p:nvSpPr>
        <p:spPr>
          <a:xfrm>
            <a:off x="238125" y="1012025"/>
            <a:ext cx="3023400" cy="1905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 sz="1100">
                <a:solidFill>
                  <a:srgbClr val="1E293B"/>
                </a:solidFill>
                <a:latin typeface="Liter"/>
                <a:ea typeface="Liter"/>
                <a:cs typeface="Liter"/>
                <a:sym typeface="Liter"/>
              </a:rPr>
              <a:t>What is an Autonomous Agent?</a:t>
            </a:r>
            <a:endParaRPr b="0" i="0" sz="1200" u="none" cap="none" strike="noStrike"/>
          </a:p>
        </p:txBody>
      </p:sp>
      <p:sp>
        <p:nvSpPr>
          <p:cNvPr id="123" name="Google Shape;123;p21"/>
          <p:cNvSpPr/>
          <p:nvPr/>
        </p:nvSpPr>
        <p:spPr>
          <a:xfrm>
            <a:off x="238125" y="1297775"/>
            <a:ext cx="3771000" cy="616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900">
                <a:solidFill>
                  <a:srgbClr val="1E293B"/>
                </a:solidFill>
                <a:latin typeface="Quattrocento Sans"/>
                <a:ea typeface="Quattrocento Sans"/>
                <a:cs typeface="Quattrocento Sans"/>
                <a:sym typeface="Quattrocento Sans"/>
              </a:rPr>
              <a:t>An AI-driven system that perceives a digital environment (through visuals, code, or structure), makes decisions, executes actions (like a human user), and iterates based on feedback to achieve a goal.</a:t>
            </a:r>
            <a:endParaRPr b="0" i="0" sz="1300" u="none" cap="none" strike="noStrike"/>
          </a:p>
        </p:txBody>
      </p:sp>
      <p:sp>
        <p:nvSpPr>
          <p:cNvPr id="124" name="Google Shape;124;p21"/>
          <p:cNvSpPr/>
          <p:nvPr/>
        </p:nvSpPr>
        <p:spPr>
          <a:xfrm>
            <a:off x="238124" y="2044675"/>
            <a:ext cx="1437600" cy="166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 sz="800">
                <a:solidFill>
                  <a:srgbClr val="1E293B"/>
                </a:solidFill>
                <a:latin typeface="Liter"/>
                <a:ea typeface="Liter"/>
                <a:cs typeface="Liter"/>
                <a:sym typeface="Liter"/>
              </a:rPr>
              <a:t>Key Capabilities of Web Agents:</a:t>
            </a:r>
            <a:endParaRPr b="1" i="0" sz="1200" u="none" cap="none" strike="noStrike"/>
          </a:p>
        </p:txBody>
      </p:sp>
      <p:sp>
        <p:nvSpPr>
          <p:cNvPr id="125" name="Google Shape;125;p21"/>
          <p:cNvSpPr/>
          <p:nvPr/>
        </p:nvSpPr>
        <p:spPr>
          <a:xfrm>
            <a:off x="318675" y="2245125"/>
            <a:ext cx="3229500" cy="244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800">
                <a:solidFill>
                  <a:schemeClr val="dk2"/>
                </a:solidFill>
                <a:latin typeface="Quattrocento Sans"/>
                <a:ea typeface="Quattrocento Sans"/>
                <a:cs typeface="Quattrocento Sans"/>
                <a:sym typeface="Quattrocento Sans"/>
              </a:rPr>
              <a:t>Observe: Perceive the page state using screenshots and DOM data.</a:t>
            </a:r>
            <a:endParaRPr b="0" i="0" sz="1200" u="none" cap="none" strike="noStrike">
              <a:solidFill>
                <a:schemeClr val="dk2"/>
              </a:solidFill>
            </a:endParaRPr>
          </a:p>
        </p:txBody>
      </p:sp>
      <p:sp>
        <p:nvSpPr>
          <p:cNvPr id="126" name="Google Shape;126;p21"/>
          <p:cNvSpPr/>
          <p:nvPr/>
        </p:nvSpPr>
        <p:spPr>
          <a:xfrm>
            <a:off x="318675" y="2497525"/>
            <a:ext cx="3609900" cy="244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800">
                <a:solidFill>
                  <a:schemeClr val="dk2"/>
                </a:solidFill>
                <a:latin typeface="Quattrocento Sans"/>
                <a:ea typeface="Quattrocento Sans"/>
                <a:cs typeface="Quattrocento Sans"/>
                <a:sym typeface="Quattrocento Sans"/>
              </a:rPr>
              <a:t>Reason: Plan the next action based on the current observation and the objective.</a:t>
            </a:r>
            <a:endParaRPr b="0" i="0" sz="1200" u="none" cap="none" strike="noStrike">
              <a:solidFill>
                <a:schemeClr val="dk2"/>
              </a:solidFill>
            </a:endParaRPr>
          </a:p>
        </p:txBody>
      </p:sp>
      <p:sp>
        <p:nvSpPr>
          <p:cNvPr id="127" name="Google Shape;127;p21"/>
          <p:cNvSpPr/>
          <p:nvPr/>
        </p:nvSpPr>
        <p:spPr>
          <a:xfrm>
            <a:off x="318675" y="2749925"/>
            <a:ext cx="3255300" cy="244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800">
                <a:solidFill>
                  <a:schemeClr val="dk2"/>
                </a:solidFill>
                <a:latin typeface="Quattrocento Sans"/>
                <a:ea typeface="Quattrocento Sans"/>
                <a:cs typeface="Quattrocento Sans"/>
                <a:sym typeface="Quattrocento Sans"/>
              </a:rPr>
              <a:t>Act: Execute the action via browser automation tools (clicks, typing).</a:t>
            </a:r>
            <a:endParaRPr b="0" i="0" sz="1200" u="none" cap="none" strike="noStrike">
              <a:solidFill>
                <a:schemeClr val="dk2"/>
              </a:solidFill>
            </a:endParaRPr>
          </a:p>
        </p:txBody>
      </p:sp>
      <p:sp>
        <p:nvSpPr>
          <p:cNvPr id="128" name="Google Shape;128;p21"/>
          <p:cNvSpPr/>
          <p:nvPr/>
        </p:nvSpPr>
        <p:spPr>
          <a:xfrm>
            <a:off x="318675" y="3002325"/>
            <a:ext cx="3255300" cy="244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800">
                <a:solidFill>
                  <a:schemeClr val="dk2"/>
                </a:solidFill>
                <a:latin typeface="Quattrocento Sans"/>
                <a:ea typeface="Quattrocento Sans"/>
                <a:cs typeface="Quattrocento Sans"/>
                <a:sym typeface="Quattrocento Sans"/>
              </a:rPr>
              <a:t>Adapt: Handle errors and recover from transient failures.</a:t>
            </a:r>
            <a:endParaRPr b="0" i="0" sz="1200" u="none" cap="none" strike="noStrike">
              <a:solidFill>
                <a:schemeClr val="dk2"/>
              </a:solidFill>
            </a:endParaRPr>
          </a:p>
        </p:txBody>
      </p:sp>
      <p:sp>
        <p:nvSpPr>
          <p:cNvPr id="129" name="Google Shape;129;p21"/>
          <p:cNvSpPr/>
          <p:nvPr/>
        </p:nvSpPr>
        <p:spPr>
          <a:xfrm>
            <a:off x="238125" y="3603400"/>
            <a:ext cx="3543900" cy="616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1" lang="en" sz="900">
                <a:solidFill>
                  <a:srgbClr val="2563EB"/>
                </a:solidFill>
                <a:latin typeface="Quattrocento Sans"/>
                <a:ea typeface="Quattrocento Sans"/>
                <a:cs typeface="Quattrocento Sans"/>
                <a:sym typeface="Quattrocento Sans"/>
              </a:rPr>
              <a:t>Note</a:t>
            </a:r>
            <a:r>
              <a:rPr b="1" i="0" lang="en" sz="900" u="none" cap="none" strike="noStrike">
                <a:solidFill>
                  <a:srgbClr val="2563EB"/>
                </a:solidFill>
                <a:latin typeface="Quattrocento Sans"/>
                <a:ea typeface="Quattrocento Sans"/>
                <a:cs typeface="Quattrocento Sans"/>
                <a:sym typeface="Quattrocento Sans"/>
              </a:rPr>
              <a:t>:</a:t>
            </a:r>
            <a:r>
              <a:rPr b="0" i="0" lang="en" sz="900" u="none" cap="none" strike="noStrike">
                <a:solidFill>
                  <a:srgbClr val="1E293B"/>
                </a:solidFill>
                <a:latin typeface="Quattrocento Sans"/>
                <a:ea typeface="Quattrocento Sans"/>
                <a:cs typeface="Quattrocento Sans"/>
                <a:sym typeface="Quattrocento Sans"/>
              </a:rPr>
              <a:t> </a:t>
            </a:r>
            <a:r>
              <a:rPr lang="en" sz="900">
                <a:solidFill>
                  <a:srgbClr val="1E293B"/>
                </a:solidFill>
                <a:latin typeface="Quattrocento Sans"/>
                <a:ea typeface="Quattrocento Sans"/>
                <a:cs typeface="Quattrocento Sans"/>
                <a:sym typeface="Quattrocento Sans"/>
              </a:rPr>
              <a:t>Generalist agents (like those for booking flights) are open-ended. Web testing agents are different, they must follow strict, sequential steps and validate explicit intermediate assertions.</a:t>
            </a:r>
            <a:endParaRPr b="0" i="0" sz="900" u="none" cap="none" strike="noStrike"/>
          </a:p>
        </p:txBody>
      </p:sp>
      <p:sp>
        <p:nvSpPr>
          <p:cNvPr id="130" name="Google Shape;130;p21"/>
          <p:cNvSpPr/>
          <p:nvPr/>
        </p:nvSpPr>
        <p:spPr>
          <a:xfrm>
            <a:off x="4572000" y="1012025"/>
            <a:ext cx="3023400" cy="1905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 sz="1100">
                <a:solidFill>
                  <a:srgbClr val="1E293B"/>
                </a:solidFill>
                <a:latin typeface="Liter"/>
                <a:ea typeface="Liter"/>
                <a:cs typeface="Liter"/>
                <a:sym typeface="Liter"/>
              </a:rPr>
              <a:t>TestPilot</a:t>
            </a:r>
            <a:endParaRPr b="0" i="0" sz="1200" u="none" cap="none" strike="noStrike"/>
          </a:p>
        </p:txBody>
      </p:sp>
      <p:sp>
        <p:nvSpPr>
          <p:cNvPr id="131" name="Google Shape;131;p21"/>
          <p:cNvSpPr/>
          <p:nvPr/>
        </p:nvSpPr>
        <p:spPr>
          <a:xfrm>
            <a:off x="4572000" y="1297775"/>
            <a:ext cx="3771000" cy="421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900">
                <a:solidFill>
                  <a:srgbClr val="1E293B"/>
                </a:solidFill>
                <a:latin typeface="Quattrocento Sans"/>
                <a:ea typeface="Quattrocento Sans"/>
                <a:cs typeface="Quattrocento Sans"/>
                <a:sym typeface="Quattrocento Sans"/>
              </a:rPr>
              <a:t>TestPilot is an Autonomous Web Testing Agent designed specifically to execute end-to-end acceptance tests written in natural language.</a:t>
            </a:r>
            <a:endParaRPr b="0" i="0" sz="1300" u="none" cap="none" strike="noStrike"/>
          </a:p>
        </p:txBody>
      </p:sp>
      <p:sp>
        <p:nvSpPr>
          <p:cNvPr id="132" name="Google Shape;132;p21"/>
          <p:cNvSpPr/>
          <p:nvPr/>
        </p:nvSpPr>
        <p:spPr>
          <a:xfrm>
            <a:off x="4532900" y="3603400"/>
            <a:ext cx="4424700" cy="8427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1" lang="en" sz="900">
                <a:solidFill>
                  <a:srgbClr val="2563EB"/>
                </a:solidFill>
                <a:latin typeface="Quattrocento Sans"/>
                <a:ea typeface="Quattrocento Sans"/>
                <a:cs typeface="Quattrocento Sans"/>
                <a:sym typeface="Quattrocento Sans"/>
              </a:rPr>
              <a:t>Definition: </a:t>
            </a:r>
            <a:r>
              <a:rPr lang="en" sz="900">
                <a:solidFill>
                  <a:srgbClr val="1E293B"/>
                </a:solidFill>
                <a:latin typeface="Quattrocento Sans"/>
                <a:ea typeface="Quattrocento Sans"/>
                <a:cs typeface="Quattrocento Sans"/>
                <a:sym typeface="Quattrocento Sans"/>
              </a:rPr>
              <a:t>Acceptance testing in web development is the final phase of software testing where a website or web application is evaluated to determine if it meets predefined business requirements, user specifications, and acceptance criteria before being deployed to production.</a:t>
            </a:r>
            <a:endParaRPr b="0" i="0" sz="1300" u="none" cap="none" strike="noStrike"/>
          </a:p>
        </p:txBody>
      </p:sp>
      <p:sp>
        <p:nvSpPr>
          <p:cNvPr id="133" name="Google Shape;133;p21"/>
          <p:cNvSpPr/>
          <p:nvPr/>
        </p:nvSpPr>
        <p:spPr>
          <a:xfrm>
            <a:off x="4572000" y="1780425"/>
            <a:ext cx="900300" cy="166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 sz="800">
                <a:solidFill>
                  <a:srgbClr val="1E293B"/>
                </a:solidFill>
                <a:latin typeface="Liter"/>
                <a:ea typeface="Liter"/>
                <a:cs typeface="Liter"/>
                <a:sym typeface="Liter"/>
              </a:rPr>
              <a:t>Components</a:t>
            </a:r>
            <a:endParaRPr b="1" i="0" sz="1200" u="none" cap="none" strike="noStrike"/>
          </a:p>
        </p:txBody>
      </p:sp>
      <p:sp>
        <p:nvSpPr>
          <p:cNvPr id="134" name="Google Shape;134;p21"/>
          <p:cNvSpPr/>
          <p:nvPr/>
        </p:nvSpPr>
        <p:spPr>
          <a:xfrm>
            <a:off x="4673525" y="2008375"/>
            <a:ext cx="4137600" cy="312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800">
                <a:solidFill>
                  <a:schemeClr val="dk2"/>
                </a:solidFill>
                <a:latin typeface="Quattrocento Sans"/>
                <a:ea typeface="Quattrocento Sans"/>
                <a:cs typeface="Quattrocento Sans"/>
                <a:sym typeface="Quattrocento Sans"/>
              </a:rPr>
              <a:t>Multimodal LLM: Uses a Large Language Model to </a:t>
            </a:r>
            <a:r>
              <a:rPr lang="en" sz="900">
                <a:solidFill>
                  <a:srgbClr val="1E293B"/>
                </a:solidFill>
                <a:latin typeface="Quattrocento Sans"/>
                <a:ea typeface="Quattrocento Sans"/>
                <a:cs typeface="Quattrocento Sans"/>
                <a:sym typeface="Quattrocento Sans"/>
              </a:rPr>
              <a:t>p</a:t>
            </a:r>
            <a:r>
              <a:rPr lang="en" sz="900">
                <a:solidFill>
                  <a:srgbClr val="1E293B"/>
                </a:solidFill>
                <a:latin typeface="Quattrocento Sans"/>
                <a:ea typeface="Quattrocento Sans"/>
                <a:cs typeface="Quattrocento Sans"/>
                <a:sym typeface="Quattrocento Sans"/>
              </a:rPr>
              <a:t>erceive</a:t>
            </a:r>
            <a:r>
              <a:rPr lang="en" sz="800">
                <a:solidFill>
                  <a:schemeClr val="dk2"/>
                </a:solidFill>
                <a:latin typeface="Quattrocento Sans"/>
                <a:ea typeface="Quattrocento Sans"/>
                <a:cs typeface="Quattrocento Sans"/>
                <a:sym typeface="Quattrocento Sans"/>
              </a:rPr>
              <a:t> and understand the page via annotated screenshots (Set-of-Marks visual prompting) and structural accessibility trees.</a:t>
            </a:r>
            <a:endParaRPr b="0" i="0" sz="1200" u="none" cap="none" strike="noStrike">
              <a:solidFill>
                <a:schemeClr val="dk2"/>
              </a:solidFill>
            </a:endParaRPr>
          </a:p>
        </p:txBody>
      </p:sp>
      <p:sp>
        <p:nvSpPr>
          <p:cNvPr id="135" name="Google Shape;135;p21"/>
          <p:cNvSpPr/>
          <p:nvPr/>
        </p:nvSpPr>
        <p:spPr>
          <a:xfrm>
            <a:off x="4673525" y="2476438"/>
            <a:ext cx="3976200" cy="3120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800">
                <a:solidFill>
                  <a:schemeClr val="dk2"/>
                </a:solidFill>
                <a:latin typeface="Quattrocento Sans"/>
                <a:ea typeface="Quattrocento Sans"/>
                <a:cs typeface="Quattrocento Sans"/>
                <a:sym typeface="Quattrocento Sans"/>
              </a:rPr>
              <a:t>State Machine (LangGraph): Orchestrates step execution, verification, and recovery to ensure no steps are skipped.</a:t>
            </a:r>
            <a:endParaRPr b="0" i="0" sz="1200" u="none" cap="none" strike="noStrike">
              <a:solidFill>
                <a:schemeClr val="dk2"/>
              </a:solidFill>
            </a:endParaRPr>
          </a:p>
        </p:txBody>
      </p:sp>
      <p:sp>
        <p:nvSpPr>
          <p:cNvPr id="136" name="Google Shape;136;p21"/>
          <p:cNvSpPr/>
          <p:nvPr/>
        </p:nvSpPr>
        <p:spPr>
          <a:xfrm>
            <a:off x="4673525" y="2944525"/>
            <a:ext cx="3879600" cy="244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800">
                <a:solidFill>
                  <a:schemeClr val="dk2"/>
                </a:solidFill>
                <a:latin typeface="Quattrocento Sans"/>
                <a:ea typeface="Quattrocento Sans"/>
                <a:cs typeface="Quattrocento Sans"/>
                <a:sym typeface="Quattrocento Sans"/>
              </a:rPr>
              <a:t>Playwright Driver: A headless Chromium browser executes the actual interactions.</a:t>
            </a:r>
            <a:endParaRPr b="0" i="0" sz="1200" u="none" cap="none" strike="noStrike">
              <a:solidFill>
                <a:schemeClr val="dk2"/>
              </a:solidFill>
            </a:endParaRPr>
          </a:p>
        </p:txBody>
      </p:sp>
      <p:sp>
        <p:nvSpPr>
          <p:cNvPr id="137" name="Google Shape;137;p21"/>
          <p:cNvSpPr/>
          <p:nvPr/>
        </p:nvSpPr>
        <p:spPr>
          <a:xfrm>
            <a:off x="4443950" y="3515163"/>
            <a:ext cx="4596741" cy="1059656"/>
          </a:xfrm>
          <a:custGeom>
            <a:rect b="b" l="l" r="r" t="t"/>
            <a:pathLst>
              <a:path extrusionOk="0" h="952500" w="11420475">
                <a:moveTo>
                  <a:pt x="114300" y="0"/>
                </a:moveTo>
                <a:lnTo>
                  <a:pt x="11306175" y="0"/>
                </a:lnTo>
                <a:cubicBezTo>
                  <a:pt x="11369259" y="0"/>
                  <a:pt x="11420475" y="51216"/>
                  <a:pt x="11420475" y="114300"/>
                </a:cubicBezTo>
                <a:lnTo>
                  <a:pt x="11420475" y="838200"/>
                </a:lnTo>
                <a:cubicBezTo>
                  <a:pt x="11420475" y="901284"/>
                  <a:pt x="11369259" y="952500"/>
                  <a:pt x="11306175" y="952500"/>
                </a:cubicBezTo>
                <a:lnTo>
                  <a:pt x="114300" y="952500"/>
                </a:lnTo>
                <a:cubicBezTo>
                  <a:pt x="51216" y="952500"/>
                  <a:pt x="0" y="901284"/>
                  <a:pt x="0" y="838200"/>
                </a:cubicBezTo>
                <a:lnTo>
                  <a:pt x="0" y="114300"/>
                </a:lnTo>
                <a:cubicBezTo>
                  <a:pt x="0" y="51216"/>
                  <a:pt x="51216" y="0"/>
                  <a:pt x="114300" y="0"/>
                </a:cubicBezTo>
                <a:close/>
              </a:path>
            </a:pathLst>
          </a:custGeom>
          <a:solidFill>
            <a:srgbClr val="2563EB">
              <a:alpha val="4710"/>
            </a:srgbClr>
          </a:solidFill>
          <a:ln cap="flat" cmpd="sng" w="9525">
            <a:solidFill>
              <a:srgbClr val="2563EB">
                <a:alpha val="20000"/>
              </a:srgbClr>
            </a:solidFill>
            <a:prstDash val="solid"/>
            <a:round/>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sz="90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42" name="Shape 142"/>
        <p:cNvGrpSpPr/>
        <p:nvPr/>
      </p:nvGrpSpPr>
      <p:grpSpPr>
        <a:xfrm>
          <a:off x="0" y="0"/>
          <a:ext cx="0" cy="0"/>
          <a:chOff x="0" y="0"/>
          <a:chExt cx="0" cy="0"/>
        </a:xfrm>
      </p:grpSpPr>
      <p:sp>
        <p:nvSpPr>
          <p:cNvPr id="143" name="Google Shape;143;p22"/>
          <p:cNvSpPr/>
          <p:nvPr/>
        </p:nvSpPr>
        <p:spPr>
          <a:xfrm>
            <a:off x="238125" y="428625"/>
            <a:ext cx="2069400" cy="2859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i="0" lang="en" sz="2300" u="none" cap="none" strike="noStrike">
                <a:solidFill>
                  <a:srgbClr val="1E293B"/>
                </a:solidFill>
                <a:latin typeface="Liter"/>
                <a:ea typeface="Liter"/>
                <a:cs typeface="Liter"/>
                <a:sym typeface="Liter"/>
              </a:rPr>
              <a:t>Agent Logic</a:t>
            </a:r>
            <a:endParaRPr b="0" i="0" sz="1200" u="none" cap="none" strike="noStrike"/>
          </a:p>
        </p:txBody>
      </p:sp>
      <p:sp>
        <p:nvSpPr>
          <p:cNvPr id="144" name="Google Shape;144;p22"/>
          <p:cNvSpPr/>
          <p:nvPr/>
        </p:nvSpPr>
        <p:spPr>
          <a:xfrm>
            <a:off x="238125" y="785813"/>
            <a:ext cx="476250" cy="23813"/>
          </a:xfrm>
          <a:custGeom>
            <a:rect b="b" l="l" r="r" t="t"/>
            <a:pathLst>
              <a:path extrusionOk="0" h="31750" w="635000">
                <a:moveTo>
                  <a:pt x="0" y="0"/>
                </a:moveTo>
                <a:lnTo>
                  <a:pt x="635000" y="0"/>
                </a:lnTo>
                <a:lnTo>
                  <a:pt x="635000" y="31750"/>
                </a:lnTo>
                <a:lnTo>
                  <a:pt x="0" y="31750"/>
                </a:lnTo>
                <a:lnTo>
                  <a:pt x="0" y="0"/>
                </a:lnTo>
                <a:close/>
              </a:path>
            </a:pathLst>
          </a:custGeom>
          <a:solidFill>
            <a:srgbClr val="2563EB"/>
          </a:solidFill>
          <a:ln>
            <a:noFill/>
          </a:ln>
        </p:spPr>
      </p:sp>
      <p:sp>
        <p:nvSpPr>
          <p:cNvPr id="145" name="Google Shape;145;p22"/>
          <p:cNvSpPr/>
          <p:nvPr/>
        </p:nvSpPr>
        <p:spPr>
          <a:xfrm>
            <a:off x="238131" y="1012025"/>
            <a:ext cx="4988700" cy="1905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i="0" lang="en" sz="1100" u="none" cap="none" strike="noStrike">
                <a:solidFill>
                  <a:srgbClr val="1E293B"/>
                </a:solidFill>
                <a:latin typeface="Liter"/>
                <a:ea typeface="Liter"/>
                <a:cs typeface="Liter"/>
                <a:sym typeface="Liter"/>
              </a:rPr>
              <a:t>Observe-Reason-Act Loop</a:t>
            </a:r>
            <a:endParaRPr b="0" i="0" sz="1200" u="none" cap="none" strike="noStrike"/>
          </a:p>
        </p:txBody>
      </p:sp>
      <p:sp>
        <p:nvSpPr>
          <p:cNvPr id="146" name="Google Shape;146;p22"/>
          <p:cNvSpPr/>
          <p:nvPr/>
        </p:nvSpPr>
        <p:spPr>
          <a:xfrm>
            <a:off x="238131" y="1297775"/>
            <a:ext cx="4965000" cy="3096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 sz="800" u="none" cap="none" strike="noStrike">
                <a:solidFill>
                  <a:srgbClr val="1E293B"/>
                </a:solidFill>
                <a:latin typeface="Quattrocento Sans"/>
                <a:ea typeface="Quattrocento Sans"/>
                <a:cs typeface="Quattrocento Sans"/>
                <a:sym typeface="Quattrocento Sans"/>
              </a:rPr>
              <a:t>The orchestration layer implements a continuous loop through specialized agent nodes that work together to execute natural language test specifications.</a:t>
            </a:r>
            <a:endParaRPr b="0" i="0" sz="1200" u="none" cap="none" strike="noStrike"/>
          </a:p>
        </p:txBody>
      </p:sp>
      <p:sp>
        <p:nvSpPr>
          <p:cNvPr id="147" name="Google Shape;147;p22"/>
          <p:cNvSpPr/>
          <p:nvPr/>
        </p:nvSpPr>
        <p:spPr>
          <a:xfrm>
            <a:off x="238131" y="1702588"/>
            <a:ext cx="1589485" cy="952500"/>
          </a:xfrm>
          <a:custGeom>
            <a:rect b="b" l="l" r="r" t="t"/>
            <a:pathLst>
              <a:path extrusionOk="0" h="1270000" w="2119313">
                <a:moveTo>
                  <a:pt x="63500" y="0"/>
                </a:moveTo>
                <a:lnTo>
                  <a:pt x="2055813" y="0"/>
                </a:lnTo>
                <a:cubicBezTo>
                  <a:pt x="2090859" y="0"/>
                  <a:pt x="2119313" y="28453"/>
                  <a:pt x="2119313" y="63500"/>
                </a:cubicBezTo>
                <a:lnTo>
                  <a:pt x="2119313" y="1206500"/>
                </a:lnTo>
                <a:cubicBezTo>
                  <a:pt x="2119313" y="1241547"/>
                  <a:pt x="2090859" y="1270000"/>
                  <a:pt x="2055813" y="1270000"/>
                </a:cubicBezTo>
                <a:lnTo>
                  <a:pt x="63500" y="1270000"/>
                </a:lnTo>
                <a:cubicBezTo>
                  <a:pt x="28453" y="1270000"/>
                  <a:pt x="0" y="1241547"/>
                  <a:pt x="0" y="1206500"/>
                </a:cubicBezTo>
                <a:lnTo>
                  <a:pt x="0" y="63500"/>
                </a:lnTo>
                <a:cubicBezTo>
                  <a:pt x="0" y="28453"/>
                  <a:pt x="28453" y="0"/>
                  <a:pt x="63500" y="0"/>
                </a:cubicBezTo>
                <a:close/>
              </a:path>
            </a:pathLst>
          </a:custGeom>
          <a:solidFill>
            <a:srgbClr val="2563EB">
              <a:alpha val="471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48" name="Google Shape;148;p22"/>
          <p:cNvSpPr/>
          <p:nvPr/>
        </p:nvSpPr>
        <p:spPr>
          <a:xfrm>
            <a:off x="306592" y="1881163"/>
            <a:ext cx="1452600" cy="166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 sz="800" u="none" cap="none" strike="noStrike">
                <a:solidFill>
                  <a:srgbClr val="1E293B"/>
                </a:solidFill>
                <a:latin typeface="Liter"/>
                <a:ea typeface="Liter"/>
                <a:cs typeface="Liter"/>
                <a:sym typeface="Liter"/>
              </a:rPr>
              <a:t>Actor</a:t>
            </a:r>
            <a:endParaRPr b="0" i="0" sz="1200" u="none" cap="none" strike="noStrike"/>
          </a:p>
        </p:txBody>
      </p:sp>
      <p:sp>
        <p:nvSpPr>
          <p:cNvPr id="149" name="Google Shape;149;p22"/>
          <p:cNvSpPr/>
          <p:nvPr/>
        </p:nvSpPr>
        <p:spPr>
          <a:xfrm>
            <a:off x="256544" y="2178866"/>
            <a:ext cx="1515300" cy="238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 sz="700" u="none" cap="none" strike="noStrike">
                <a:solidFill>
                  <a:schemeClr val="dk2"/>
                </a:solidFill>
                <a:latin typeface="Quattrocento Sans"/>
                <a:ea typeface="Quattrocento Sans"/>
                <a:cs typeface="Quattrocento Sans"/>
                <a:sym typeface="Quattrocento Sans"/>
              </a:rPr>
              <a:t>Executes actions on web elements based on current state and test goals</a:t>
            </a:r>
            <a:endParaRPr b="0" i="0" sz="1300" u="none" cap="none" strike="noStrike">
              <a:solidFill>
                <a:schemeClr val="dk2"/>
              </a:solidFill>
            </a:endParaRPr>
          </a:p>
        </p:txBody>
      </p:sp>
      <p:sp>
        <p:nvSpPr>
          <p:cNvPr id="150" name="Google Shape;150;p22"/>
          <p:cNvSpPr/>
          <p:nvPr/>
        </p:nvSpPr>
        <p:spPr>
          <a:xfrm>
            <a:off x="1900170" y="1702588"/>
            <a:ext cx="1589485" cy="952500"/>
          </a:xfrm>
          <a:custGeom>
            <a:rect b="b" l="l" r="r" t="t"/>
            <a:pathLst>
              <a:path extrusionOk="0" h="1270000" w="2119313">
                <a:moveTo>
                  <a:pt x="63500" y="0"/>
                </a:moveTo>
                <a:lnTo>
                  <a:pt x="2055813" y="0"/>
                </a:lnTo>
                <a:cubicBezTo>
                  <a:pt x="2090859" y="0"/>
                  <a:pt x="2119313" y="28453"/>
                  <a:pt x="2119313" y="63500"/>
                </a:cubicBezTo>
                <a:lnTo>
                  <a:pt x="2119313" y="1206500"/>
                </a:lnTo>
                <a:cubicBezTo>
                  <a:pt x="2119313" y="1241547"/>
                  <a:pt x="2090859" y="1270000"/>
                  <a:pt x="2055813" y="1270000"/>
                </a:cubicBezTo>
                <a:lnTo>
                  <a:pt x="63500" y="1270000"/>
                </a:lnTo>
                <a:cubicBezTo>
                  <a:pt x="28453" y="1270000"/>
                  <a:pt x="0" y="1241547"/>
                  <a:pt x="0" y="1206500"/>
                </a:cubicBezTo>
                <a:lnTo>
                  <a:pt x="0" y="63500"/>
                </a:lnTo>
                <a:cubicBezTo>
                  <a:pt x="0" y="28453"/>
                  <a:pt x="28453" y="0"/>
                  <a:pt x="63500" y="0"/>
                </a:cubicBezTo>
                <a:close/>
              </a:path>
            </a:pathLst>
          </a:custGeom>
          <a:solidFill>
            <a:srgbClr val="0EA5E9">
              <a:alpha val="471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1" name="Google Shape;151;p22"/>
          <p:cNvSpPr/>
          <p:nvPr/>
        </p:nvSpPr>
        <p:spPr>
          <a:xfrm>
            <a:off x="1968630" y="1881163"/>
            <a:ext cx="1452600" cy="166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 sz="800" u="none" cap="none" strike="noStrike">
                <a:solidFill>
                  <a:srgbClr val="1E293B"/>
                </a:solidFill>
                <a:latin typeface="Liter"/>
                <a:ea typeface="Liter"/>
                <a:cs typeface="Liter"/>
                <a:sym typeface="Liter"/>
              </a:rPr>
              <a:t>Assertor</a:t>
            </a:r>
            <a:endParaRPr b="0" i="0" sz="1200" u="none" cap="none" strike="noStrike"/>
          </a:p>
        </p:txBody>
      </p:sp>
      <p:sp>
        <p:nvSpPr>
          <p:cNvPr id="152" name="Google Shape;152;p22"/>
          <p:cNvSpPr/>
          <p:nvPr/>
        </p:nvSpPr>
        <p:spPr>
          <a:xfrm>
            <a:off x="1993146" y="2214509"/>
            <a:ext cx="1440600" cy="238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 sz="700" u="none" cap="none" strike="noStrike">
                <a:solidFill>
                  <a:schemeClr val="dk2"/>
                </a:solidFill>
                <a:latin typeface="Quattrocento Sans"/>
                <a:ea typeface="Quattrocento Sans"/>
                <a:cs typeface="Quattrocento Sans"/>
                <a:sym typeface="Quattrocento Sans"/>
              </a:rPr>
              <a:t>Verifies expected outcomes and validates test conditions</a:t>
            </a:r>
            <a:endParaRPr b="0" i="0" sz="1300" u="none" cap="none" strike="noStrike">
              <a:solidFill>
                <a:schemeClr val="dk2"/>
              </a:solidFill>
            </a:endParaRPr>
          </a:p>
        </p:txBody>
      </p:sp>
      <p:sp>
        <p:nvSpPr>
          <p:cNvPr id="153" name="Google Shape;153;p22"/>
          <p:cNvSpPr/>
          <p:nvPr/>
        </p:nvSpPr>
        <p:spPr>
          <a:xfrm>
            <a:off x="3562301" y="1702588"/>
            <a:ext cx="1589485" cy="952500"/>
          </a:xfrm>
          <a:custGeom>
            <a:rect b="b" l="l" r="r" t="t"/>
            <a:pathLst>
              <a:path extrusionOk="0" h="1270000" w="2119313">
                <a:moveTo>
                  <a:pt x="63500" y="0"/>
                </a:moveTo>
                <a:lnTo>
                  <a:pt x="2055813" y="0"/>
                </a:lnTo>
                <a:cubicBezTo>
                  <a:pt x="2090859" y="0"/>
                  <a:pt x="2119313" y="28453"/>
                  <a:pt x="2119313" y="63500"/>
                </a:cubicBezTo>
                <a:lnTo>
                  <a:pt x="2119313" y="1206500"/>
                </a:lnTo>
                <a:cubicBezTo>
                  <a:pt x="2119313" y="1241547"/>
                  <a:pt x="2090859" y="1270000"/>
                  <a:pt x="2055813" y="1270000"/>
                </a:cubicBezTo>
                <a:lnTo>
                  <a:pt x="63500" y="1270000"/>
                </a:lnTo>
                <a:cubicBezTo>
                  <a:pt x="28453" y="1270000"/>
                  <a:pt x="0" y="1241547"/>
                  <a:pt x="0" y="1206500"/>
                </a:cubicBezTo>
                <a:lnTo>
                  <a:pt x="0" y="63500"/>
                </a:lnTo>
                <a:cubicBezTo>
                  <a:pt x="0" y="28453"/>
                  <a:pt x="28453" y="0"/>
                  <a:pt x="63500" y="0"/>
                </a:cubicBezTo>
                <a:close/>
              </a:path>
            </a:pathLst>
          </a:custGeom>
          <a:solidFill>
            <a:srgbClr val="64748B">
              <a:alpha val="4710"/>
            </a:srgbClr>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54" name="Google Shape;154;p22"/>
          <p:cNvSpPr/>
          <p:nvPr/>
        </p:nvSpPr>
        <p:spPr>
          <a:xfrm>
            <a:off x="3630762" y="1881163"/>
            <a:ext cx="1452600" cy="1668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 sz="800" u="none" cap="none" strike="noStrike">
                <a:solidFill>
                  <a:srgbClr val="1E293B"/>
                </a:solidFill>
                <a:latin typeface="Liter"/>
                <a:ea typeface="Liter"/>
                <a:cs typeface="Liter"/>
                <a:sym typeface="Liter"/>
              </a:rPr>
              <a:t>Recovery</a:t>
            </a:r>
            <a:endParaRPr b="0" i="0" sz="1200" u="none" cap="none" strike="noStrike"/>
          </a:p>
        </p:txBody>
      </p:sp>
      <p:sp>
        <p:nvSpPr>
          <p:cNvPr id="155" name="Google Shape;155;p22"/>
          <p:cNvSpPr/>
          <p:nvPr/>
        </p:nvSpPr>
        <p:spPr>
          <a:xfrm>
            <a:off x="3655277" y="2214509"/>
            <a:ext cx="1440600" cy="238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0" i="0" lang="en" sz="700" u="none" cap="none" strike="noStrike">
                <a:solidFill>
                  <a:schemeClr val="dk2"/>
                </a:solidFill>
                <a:latin typeface="Quattrocento Sans"/>
                <a:ea typeface="Quattrocento Sans"/>
                <a:cs typeface="Quattrocento Sans"/>
                <a:sym typeface="Quattrocento Sans"/>
              </a:rPr>
              <a:t>Handles errors and attempts recovery from failed actions</a:t>
            </a:r>
            <a:endParaRPr b="0" i="0" sz="1300" u="none" cap="none" strike="noStrike">
              <a:solidFill>
                <a:schemeClr val="dk2"/>
              </a:solidFill>
            </a:endParaRPr>
          </a:p>
        </p:txBody>
      </p:sp>
      <p:sp>
        <p:nvSpPr>
          <p:cNvPr id="156" name="Google Shape;156;p22"/>
          <p:cNvSpPr/>
          <p:nvPr/>
        </p:nvSpPr>
        <p:spPr>
          <a:xfrm>
            <a:off x="306600" y="3155175"/>
            <a:ext cx="4776900" cy="4524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 sz="800" u="none" cap="none" strike="noStrike">
                <a:solidFill>
                  <a:srgbClr val="1E293B"/>
                </a:solidFill>
                <a:latin typeface="Quattrocento Sans"/>
                <a:ea typeface="Quattrocento Sans"/>
                <a:cs typeface="Quattrocento Sans"/>
                <a:sym typeface="Quattrocento Sans"/>
              </a:rPr>
              <a:t>The system extracts three categories of features from the browser environment, prioritizing multimodal inputs that mirror human testing behavior:</a:t>
            </a:r>
            <a:endParaRPr b="0" i="0" sz="1200" u="none" cap="none" strike="noStrike"/>
          </a:p>
        </p:txBody>
      </p:sp>
      <p:sp>
        <p:nvSpPr>
          <p:cNvPr id="157" name="Google Shape;157;p22"/>
          <p:cNvSpPr/>
          <p:nvPr/>
        </p:nvSpPr>
        <p:spPr>
          <a:xfrm>
            <a:off x="306594" y="2891188"/>
            <a:ext cx="3214800" cy="166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i="0" lang="en" sz="900" u="none" cap="none" strike="noStrike">
                <a:solidFill>
                  <a:srgbClr val="1E293B"/>
                </a:solidFill>
                <a:latin typeface="Liter"/>
                <a:ea typeface="Liter"/>
                <a:cs typeface="Liter"/>
                <a:sym typeface="Liter"/>
              </a:rPr>
              <a:t>Feature Categories</a:t>
            </a:r>
            <a:endParaRPr b="0" i="0" sz="1200" u="none" cap="none" strike="noStrike"/>
          </a:p>
        </p:txBody>
      </p:sp>
      <p:sp>
        <p:nvSpPr>
          <p:cNvPr id="158" name="Google Shape;158;p22"/>
          <p:cNvSpPr/>
          <p:nvPr/>
        </p:nvSpPr>
        <p:spPr>
          <a:xfrm>
            <a:off x="306594" y="3786331"/>
            <a:ext cx="780000" cy="166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 sz="800" u="none" cap="none" strike="noStrike">
                <a:solidFill>
                  <a:srgbClr val="1E293B"/>
                </a:solidFill>
                <a:latin typeface="Liter"/>
                <a:ea typeface="Liter"/>
                <a:cs typeface="Liter"/>
                <a:sym typeface="Liter"/>
              </a:rPr>
              <a:t>Visual Features</a:t>
            </a:r>
            <a:endParaRPr b="1" i="0" sz="1200" u="none" cap="none" strike="noStrike"/>
          </a:p>
        </p:txBody>
      </p:sp>
      <p:sp>
        <p:nvSpPr>
          <p:cNvPr id="159" name="Google Shape;159;p22"/>
          <p:cNvSpPr/>
          <p:nvPr/>
        </p:nvSpPr>
        <p:spPr>
          <a:xfrm>
            <a:off x="306600" y="3953125"/>
            <a:ext cx="1589400" cy="868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 sz="800" u="none" cap="none" strike="noStrike">
                <a:solidFill>
                  <a:schemeClr val="dk2"/>
                </a:solidFill>
                <a:latin typeface="Quattrocento Sans"/>
                <a:ea typeface="Quattrocento Sans"/>
                <a:cs typeface="Quattrocento Sans"/>
                <a:sym typeface="Quattrocento Sans"/>
              </a:rPr>
              <a:t>Full-page screenshots serve as primary input for element localization and assertion verification</a:t>
            </a:r>
            <a:r>
              <a:rPr lang="en" sz="800">
                <a:solidFill>
                  <a:schemeClr val="dk2"/>
                </a:solidFill>
                <a:latin typeface="Quattrocento Sans"/>
                <a:ea typeface="Quattrocento Sans"/>
                <a:cs typeface="Quattrocento Sans"/>
                <a:sym typeface="Quattrocento Sans"/>
              </a:rPr>
              <a:t>.</a:t>
            </a:r>
            <a:endParaRPr b="0" i="0" sz="1200" u="none" cap="none" strike="noStrike">
              <a:solidFill>
                <a:schemeClr val="dk2"/>
              </a:solidFill>
            </a:endParaRPr>
          </a:p>
        </p:txBody>
      </p:sp>
      <p:sp>
        <p:nvSpPr>
          <p:cNvPr id="160" name="Google Shape;160;p22"/>
          <p:cNvSpPr/>
          <p:nvPr/>
        </p:nvSpPr>
        <p:spPr>
          <a:xfrm>
            <a:off x="1955794" y="3786325"/>
            <a:ext cx="958500" cy="166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 sz="800" u="none" cap="none" strike="noStrike">
                <a:solidFill>
                  <a:srgbClr val="1E293B"/>
                </a:solidFill>
                <a:latin typeface="Liter"/>
                <a:ea typeface="Liter"/>
                <a:cs typeface="Liter"/>
                <a:sym typeface="Liter"/>
              </a:rPr>
              <a:t>Structural Features</a:t>
            </a:r>
            <a:endParaRPr b="0" i="0" sz="1200" u="none" cap="none" strike="noStrike"/>
          </a:p>
        </p:txBody>
      </p:sp>
      <p:sp>
        <p:nvSpPr>
          <p:cNvPr id="161" name="Google Shape;161;p22"/>
          <p:cNvSpPr/>
          <p:nvPr/>
        </p:nvSpPr>
        <p:spPr>
          <a:xfrm>
            <a:off x="1937250" y="3916050"/>
            <a:ext cx="1589400" cy="9525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 sz="800" u="none" cap="none" strike="noStrike">
                <a:solidFill>
                  <a:schemeClr val="dk2"/>
                </a:solidFill>
                <a:latin typeface="Quattrocento Sans"/>
                <a:ea typeface="Quattrocento Sans"/>
                <a:cs typeface="Quattrocento Sans"/>
                <a:sym typeface="Quattrocento Sans"/>
              </a:rPr>
              <a:t>Accessibility tree snapshots filtered to include interactive elements (buttons, inputs, links) with their semantic labels, </a:t>
            </a:r>
            <a:endParaRPr b="0" i="0" sz="1200" u="none" cap="none" strike="noStrike">
              <a:solidFill>
                <a:schemeClr val="dk2"/>
              </a:solidFill>
            </a:endParaRPr>
          </a:p>
        </p:txBody>
      </p:sp>
      <p:sp>
        <p:nvSpPr>
          <p:cNvPr id="162" name="Google Shape;162;p22"/>
          <p:cNvSpPr/>
          <p:nvPr/>
        </p:nvSpPr>
        <p:spPr>
          <a:xfrm>
            <a:off x="3655269" y="3786319"/>
            <a:ext cx="738300" cy="166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i="0" lang="en" sz="800" u="none" cap="none" strike="noStrike">
                <a:solidFill>
                  <a:srgbClr val="1E293B"/>
                </a:solidFill>
                <a:latin typeface="Liter"/>
                <a:ea typeface="Liter"/>
                <a:cs typeface="Liter"/>
                <a:sym typeface="Liter"/>
              </a:rPr>
              <a:t>State Features</a:t>
            </a:r>
            <a:endParaRPr b="0" i="0" sz="1200" u="none" cap="none" strike="noStrike"/>
          </a:p>
        </p:txBody>
      </p:sp>
      <p:sp>
        <p:nvSpPr>
          <p:cNvPr id="163" name="Google Shape;163;p22"/>
          <p:cNvSpPr/>
          <p:nvPr/>
        </p:nvSpPr>
        <p:spPr>
          <a:xfrm>
            <a:off x="3655275" y="3916050"/>
            <a:ext cx="1746000" cy="10521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0" i="0" lang="en" sz="800" u="none" cap="none" strike="noStrike">
                <a:solidFill>
                  <a:schemeClr val="dk2"/>
                </a:solidFill>
                <a:latin typeface="Quattrocento Sans"/>
                <a:ea typeface="Quattrocento Sans"/>
                <a:cs typeface="Quattrocento Sans"/>
                <a:sym typeface="Quattrocento Sans"/>
              </a:rPr>
              <a:t>Current URL, browser console logs, and sequential history of previously executed actions within the active test run, grounding the agent in temporal context.</a:t>
            </a:r>
            <a:endParaRPr b="0" i="0" sz="1200" u="none" cap="none" strike="noStrike">
              <a:solidFill>
                <a:schemeClr val="dk2"/>
              </a:solidFill>
            </a:endParaRPr>
          </a:p>
        </p:txBody>
      </p:sp>
      <p:pic>
        <p:nvPicPr>
          <p:cNvPr id="164" name="Google Shape;164;p22" title="presentation_img_2.png"/>
          <p:cNvPicPr preferRelativeResize="0"/>
          <p:nvPr/>
        </p:nvPicPr>
        <p:blipFill>
          <a:blip r:embed="rId3">
            <a:alphaModFix/>
          </a:blip>
          <a:stretch>
            <a:fillRect/>
          </a:stretch>
        </p:blipFill>
        <p:spPr>
          <a:xfrm>
            <a:off x="5734700" y="152400"/>
            <a:ext cx="3409300" cy="4838702"/>
          </a:xfrm>
          <a:prstGeom prst="rect">
            <a:avLst/>
          </a:prstGeom>
          <a:noFill/>
          <a:ln>
            <a:noFill/>
          </a:ln>
        </p:spPr>
      </p:pic>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69" name="Shape 169"/>
        <p:cNvGrpSpPr/>
        <p:nvPr/>
      </p:nvGrpSpPr>
      <p:grpSpPr>
        <a:xfrm>
          <a:off x="0" y="0"/>
          <a:ext cx="0" cy="0"/>
          <a:chOff x="0" y="0"/>
          <a:chExt cx="0" cy="0"/>
        </a:xfrm>
      </p:grpSpPr>
      <p:sp>
        <p:nvSpPr>
          <p:cNvPr id="170" name="Google Shape;170;p23"/>
          <p:cNvSpPr/>
          <p:nvPr/>
        </p:nvSpPr>
        <p:spPr>
          <a:xfrm>
            <a:off x="238125" y="428625"/>
            <a:ext cx="4333800" cy="2859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 sz="2300">
                <a:solidFill>
                  <a:srgbClr val="1E293B"/>
                </a:solidFill>
                <a:latin typeface="Liter"/>
                <a:ea typeface="Liter"/>
                <a:cs typeface="Liter"/>
                <a:sym typeface="Liter"/>
              </a:rPr>
              <a:t>System Architecture Overview</a:t>
            </a:r>
            <a:endParaRPr b="0" i="0" sz="1200" u="none" cap="none" strike="noStrike"/>
          </a:p>
        </p:txBody>
      </p:sp>
      <p:sp>
        <p:nvSpPr>
          <p:cNvPr id="171" name="Google Shape;171;p23"/>
          <p:cNvSpPr/>
          <p:nvPr/>
        </p:nvSpPr>
        <p:spPr>
          <a:xfrm>
            <a:off x="238125" y="785813"/>
            <a:ext cx="476250" cy="23813"/>
          </a:xfrm>
          <a:custGeom>
            <a:rect b="b" l="l" r="r" t="t"/>
            <a:pathLst>
              <a:path extrusionOk="0" h="31750" w="635000">
                <a:moveTo>
                  <a:pt x="0" y="0"/>
                </a:moveTo>
                <a:lnTo>
                  <a:pt x="635000" y="0"/>
                </a:lnTo>
                <a:lnTo>
                  <a:pt x="635000" y="31750"/>
                </a:lnTo>
                <a:lnTo>
                  <a:pt x="0" y="31750"/>
                </a:lnTo>
                <a:lnTo>
                  <a:pt x="0" y="0"/>
                </a:lnTo>
                <a:close/>
              </a:path>
            </a:pathLst>
          </a:custGeom>
          <a:solidFill>
            <a:srgbClr val="2563EB"/>
          </a:solidFill>
          <a:ln>
            <a:noFill/>
          </a:ln>
        </p:spPr>
      </p:sp>
      <p:pic>
        <p:nvPicPr>
          <p:cNvPr id="172" name="Google Shape;172;p23" title="presentation_img_3.png"/>
          <p:cNvPicPr preferRelativeResize="0"/>
          <p:nvPr/>
        </p:nvPicPr>
        <p:blipFill rotWithShape="1">
          <a:blip r:embed="rId3">
            <a:alphaModFix/>
          </a:blip>
          <a:srcRect b="10531" l="6971" r="7074" t="10230"/>
          <a:stretch/>
        </p:blipFill>
        <p:spPr>
          <a:xfrm>
            <a:off x="1258125" y="973275"/>
            <a:ext cx="6627748" cy="4092875"/>
          </a:xfrm>
          <a:prstGeom prst="rect">
            <a:avLst/>
          </a:prstGeom>
          <a:noFill/>
          <a:ln>
            <a:noFill/>
          </a:ln>
        </p:spPr>
      </p:pic>
      <p:sp>
        <p:nvSpPr>
          <p:cNvPr id="173" name="Google Shape;173;p23"/>
          <p:cNvSpPr/>
          <p:nvPr/>
        </p:nvSpPr>
        <p:spPr>
          <a:xfrm>
            <a:off x="4290150" y="4750250"/>
            <a:ext cx="1375800" cy="3159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800">
                <a:solidFill>
                  <a:schemeClr val="dk2"/>
                </a:solidFill>
                <a:latin typeface="Quattrocento Sans"/>
                <a:ea typeface="Quattrocento Sans"/>
                <a:cs typeface="Quattrocento Sans"/>
                <a:sym typeface="Quattrocento Sans"/>
              </a:rPr>
              <a:t>Simplified version of Figure 4.1</a:t>
            </a:r>
            <a:endParaRPr b="0" i="0" sz="1200" u="none" cap="none" strike="noStrike">
              <a:solidFill>
                <a:schemeClr val="dk2"/>
              </a:solidFill>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78" name="Shape 178"/>
        <p:cNvGrpSpPr/>
        <p:nvPr/>
      </p:nvGrpSpPr>
      <p:grpSpPr>
        <a:xfrm>
          <a:off x="0" y="0"/>
          <a:ext cx="0" cy="0"/>
          <a:chOff x="0" y="0"/>
          <a:chExt cx="0" cy="0"/>
        </a:xfrm>
      </p:grpSpPr>
      <p:sp>
        <p:nvSpPr>
          <p:cNvPr id="179" name="Google Shape;179;p24"/>
          <p:cNvSpPr/>
          <p:nvPr/>
        </p:nvSpPr>
        <p:spPr>
          <a:xfrm>
            <a:off x="2489849" y="1635150"/>
            <a:ext cx="4164300" cy="1873200"/>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b="1" lang="en" sz="3344">
                <a:solidFill>
                  <a:srgbClr val="1E293B"/>
                </a:solidFill>
                <a:latin typeface="Liter"/>
                <a:ea typeface="Liter"/>
                <a:cs typeface="Liter"/>
                <a:sym typeface="Liter"/>
              </a:rPr>
              <a:t>Live</a:t>
            </a:r>
            <a:br>
              <a:rPr b="1" lang="en" sz="3344">
                <a:solidFill>
                  <a:srgbClr val="1E293B"/>
                </a:solidFill>
                <a:latin typeface="Liter"/>
                <a:ea typeface="Liter"/>
                <a:cs typeface="Liter"/>
                <a:sym typeface="Liter"/>
              </a:rPr>
            </a:br>
            <a:r>
              <a:rPr b="1" lang="en" sz="3344">
                <a:solidFill>
                  <a:srgbClr val="1E293B"/>
                </a:solidFill>
                <a:latin typeface="Liter"/>
                <a:ea typeface="Liter"/>
                <a:cs typeface="Liter"/>
                <a:sym typeface="Liter"/>
              </a:rPr>
              <a:t>Demonstration</a:t>
            </a:r>
            <a:endParaRPr b="0" i="0" sz="1600" u="none" cap="none" strike="noStrike"/>
          </a:p>
        </p:txBody>
      </p:sp>
      <p:sp>
        <p:nvSpPr>
          <p:cNvPr id="180" name="Google Shape;180;p24"/>
          <p:cNvSpPr/>
          <p:nvPr/>
        </p:nvSpPr>
        <p:spPr>
          <a:xfrm>
            <a:off x="238125" y="428625"/>
            <a:ext cx="4333800" cy="2859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 sz="2300">
                <a:solidFill>
                  <a:srgbClr val="1E293B"/>
                </a:solidFill>
                <a:latin typeface="Liter"/>
                <a:ea typeface="Liter"/>
                <a:cs typeface="Liter"/>
                <a:sym typeface="Liter"/>
              </a:rPr>
              <a:t>Does it </a:t>
            </a:r>
            <a:r>
              <a:rPr b="1" lang="en" sz="2300">
                <a:solidFill>
                  <a:srgbClr val="1E293B"/>
                </a:solidFill>
                <a:latin typeface="Liter"/>
                <a:ea typeface="Liter"/>
                <a:cs typeface="Liter"/>
                <a:sym typeface="Liter"/>
              </a:rPr>
              <a:t>Actually</a:t>
            </a:r>
            <a:r>
              <a:rPr b="1" lang="en" sz="2300">
                <a:solidFill>
                  <a:srgbClr val="1E293B"/>
                </a:solidFill>
                <a:latin typeface="Liter"/>
                <a:ea typeface="Liter"/>
                <a:cs typeface="Liter"/>
                <a:sym typeface="Liter"/>
              </a:rPr>
              <a:t> Work?</a:t>
            </a:r>
            <a:endParaRPr b="0" i="0" sz="1200" u="none" cap="none" strike="noStrike"/>
          </a:p>
        </p:txBody>
      </p:sp>
      <p:sp>
        <p:nvSpPr>
          <p:cNvPr id="181" name="Google Shape;181;p24"/>
          <p:cNvSpPr/>
          <p:nvPr/>
        </p:nvSpPr>
        <p:spPr>
          <a:xfrm>
            <a:off x="238125" y="785813"/>
            <a:ext cx="476250" cy="23813"/>
          </a:xfrm>
          <a:custGeom>
            <a:rect b="b" l="l" r="r" t="t"/>
            <a:pathLst>
              <a:path extrusionOk="0" h="31750" w="635000">
                <a:moveTo>
                  <a:pt x="0" y="0"/>
                </a:moveTo>
                <a:lnTo>
                  <a:pt x="635000" y="0"/>
                </a:lnTo>
                <a:lnTo>
                  <a:pt x="635000" y="31750"/>
                </a:lnTo>
                <a:lnTo>
                  <a:pt x="0" y="31750"/>
                </a:lnTo>
                <a:lnTo>
                  <a:pt x="0" y="0"/>
                </a:lnTo>
                <a:close/>
              </a:path>
            </a:pathLst>
          </a:custGeom>
          <a:solidFill>
            <a:srgbClr val="2563EB"/>
          </a:solidFill>
          <a:ln>
            <a:noFill/>
          </a:ln>
        </p:spPr>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86" name="Shape 186"/>
        <p:cNvGrpSpPr/>
        <p:nvPr/>
      </p:nvGrpSpPr>
      <p:grpSpPr>
        <a:xfrm>
          <a:off x="0" y="0"/>
          <a:ext cx="0" cy="0"/>
          <a:chOff x="0" y="0"/>
          <a:chExt cx="0" cy="0"/>
        </a:xfrm>
      </p:grpSpPr>
      <p:sp>
        <p:nvSpPr>
          <p:cNvPr id="187" name="Google Shape;187;p25"/>
          <p:cNvSpPr/>
          <p:nvPr/>
        </p:nvSpPr>
        <p:spPr>
          <a:xfrm>
            <a:off x="238125" y="428625"/>
            <a:ext cx="4333800" cy="2859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 sz="2300">
                <a:solidFill>
                  <a:srgbClr val="1E293B"/>
                </a:solidFill>
                <a:latin typeface="Liter"/>
                <a:ea typeface="Liter"/>
                <a:cs typeface="Liter"/>
                <a:sym typeface="Liter"/>
              </a:rPr>
              <a:t>Evaluation &amp; Test Results</a:t>
            </a:r>
            <a:endParaRPr b="0" i="0" sz="1200" u="none" cap="none" strike="noStrike"/>
          </a:p>
        </p:txBody>
      </p:sp>
      <p:sp>
        <p:nvSpPr>
          <p:cNvPr id="188" name="Google Shape;188;p25"/>
          <p:cNvSpPr/>
          <p:nvPr/>
        </p:nvSpPr>
        <p:spPr>
          <a:xfrm>
            <a:off x="238125" y="785813"/>
            <a:ext cx="476250" cy="23813"/>
          </a:xfrm>
          <a:custGeom>
            <a:rect b="b" l="l" r="r" t="t"/>
            <a:pathLst>
              <a:path extrusionOk="0" h="31750" w="635000">
                <a:moveTo>
                  <a:pt x="0" y="0"/>
                </a:moveTo>
                <a:lnTo>
                  <a:pt x="635000" y="0"/>
                </a:lnTo>
                <a:lnTo>
                  <a:pt x="635000" y="31750"/>
                </a:lnTo>
                <a:lnTo>
                  <a:pt x="0" y="31750"/>
                </a:lnTo>
                <a:lnTo>
                  <a:pt x="0" y="0"/>
                </a:lnTo>
                <a:close/>
              </a:path>
            </a:pathLst>
          </a:custGeom>
          <a:solidFill>
            <a:srgbClr val="2563EB"/>
          </a:solidFill>
          <a:ln>
            <a:noFill/>
          </a:ln>
        </p:spPr>
      </p:sp>
      <p:pic>
        <p:nvPicPr>
          <p:cNvPr id="189" name="Google Shape;189;p25" title="presentation_img_4.png"/>
          <p:cNvPicPr preferRelativeResize="0"/>
          <p:nvPr/>
        </p:nvPicPr>
        <p:blipFill>
          <a:blip r:embed="rId3">
            <a:alphaModFix/>
          </a:blip>
          <a:stretch>
            <a:fillRect/>
          </a:stretch>
        </p:blipFill>
        <p:spPr>
          <a:xfrm>
            <a:off x="2229224" y="1185125"/>
            <a:ext cx="6914774" cy="3572500"/>
          </a:xfrm>
          <a:prstGeom prst="rect">
            <a:avLst/>
          </a:prstGeom>
          <a:noFill/>
          <a:ln>
            <a:noFill/>
          </a:ln>
        </p:spPr>
      </p:pic>
      <p:sp>
        <p:nvSpPr>
          <p:cNvPr id="190" name="Google Shape;190;p25"/>
          <p:cNvSpPr/>
          <p:nvPr/>
        </p:nvSpPr>
        <p:spPr>
          <a:xfrm>
            <a:off x="2287175" y="1561525"/>
            <a:ext cx="1130700" cy="2923500"/>
          </a:xfrm>
          <a:prstGeom prst="rect">
            <a:avLst/>
          </a:prstGeom>
          <a:noFill/>
          <a:ln cap="flat" cmpd="sng" w="19050">
            <a:solidFill>
              <a:srgbClr val="EF444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200">
              <a:solidFill>
                <a:srgbClr val="EF4444"/>
              </a:solidFill>
            </a:endParaRPr>
          </a:p>
        </p:txBody>
      </p:sp>
      <p:cxnSp>
        <p:nvCxnSpPr>
          <p:cNvPr id="191" name="Google Shape;191;p25"/>
          <p:cNvCxnSpPr/>
          <p:nvPr/>
        </p:nvCxnSpPr>
        <p:spPr>
          <a:xfrm flipH="1">
            <a:off x="3478025" y="1572300"/>
            <a:ext cx="782400" cy="145200"/>
          </a:xfrm>
          <a:prstGeom prst="straightConnector1">
            <a:avLst/>
          </a:prstGeom>
          <a:noFill/>
          <a:ln cap="flat" cmpd="sng" w="9525">
            <a:solidFill>
              <a:srgbClr val="EF4444"/>
            </a:solidFill>
            <a:prstDash val="solid"/>
            <a:round/>
            <a:headEnd len="med" w="med" type="none"/>
            <a:tailEnd len="med" w="med" type="triangle"/>
          </a:ln>
        </p:spPr>
      </p:cxnSp>
      <p:sp>
        <p:nvSpPr>
          <p:cNvPr id="192" name="Google Shape;192;p25"/>
          <p:cNvSpPr txBox="1"/>
          <p:nvPr/>
        </p:nvSpPr>
        <p:spPr>
          <a:xfrm>
            <a:off x="4320575" y="1409700"/>
            <a:ext cx="1390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rgbClr val="EF4444"/>
                </a:solidFill>
              </a:rPr>
              <a:t>All 11 Test Cases Passed</a:t>
            </a:r>
            <a:endParaRPr sz="800">
              <a:solidFill>
                <a:srgbClr val="EF4444"/>
              </a:solidFill>
            </a:endParaRPr>
          </a:p>
        </p:txBody>
      </p:sp>
      <p:sp>
        <p:nvSpPr>
          <p:cNvPr id="193" name="Google Shape;193;p25"/>
          <p:cNvSpPr/>
          <p:nvPr/>
        </p:nvSpPr>
        <p:spPr>
          <a:xfrm>
            <a:off x="238125" y="1409700"/>
            <a:ext cx="1869600" cy="14907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800">
                <a:solidFill>
                  <a:schemeClr val="dk2"/>
                </a:solidFill>
                <a:latin typeface="Quattrocento Sans"/>
                <a:ea typeface="Quattrocento Sans"/>
                <a:cs typeface="Quattrocento Sans"/>
                <a:sym typeface="Quattrocento Sans"/>
              </a:rPr>
              <a:t>To validate TestPilot, we built a comprehensive test suite using the public SauceLabs Swag Labs e-commerce sandbox. We wrote 11 natural language test cases, ranging from valid and invalid login attempts, multi-item cart manipulation, to complete checkout flow.</a:t>
            </a:r>
            <a:endParaRPr b="0" i="0" sz="1200" u="none" cap="none" strike="noStrike">
              <a:solidFill>
                <a:schemeClr val="dk2"/>
              </a:solidFill>
            </a:endParaRPr>
          </a:p>
        </p:txBody>
      </p:sp>
      <p:sp>
        <p:nvSpPr>
          <p:cNvPr id="194" name="Google Shape;194;p25"/>
          <p:cNvSpPr/>
          <p:nvPr/>
        </p:nvSpPr>
        <p:spPr>
          <a:xfrm>
            <a:off x="238125" y="2870525"/>
            <a:ext cx="1869600" cy="14907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 sz="800">
                <a:solidFill>
                  <a:schemeClr val="dk2"/>
                </a:solidFill>
                <a:latin typeface="Quattrocento Sans"/>
                <a:ea typeface="Quattrocento Sans"/>
                <a:cs typeface="Quattrocento Sans"/>
                <a:sym typeface="Quattrocento Sans"/>
              </a:rPr>
              <a:t>The most important takeaway from this evaluation is how they passed. These tests relied entirely on visual annotations and natural language steps. No traditional CSS selectors were written for any of these 11 tests. This proves our primary objective that we can completely eliminate the selectors' maintenance burden.</a:t>
            </a:r>
            <a:endParaRPr b="0" i="0" sz="1200" u="none" cap="none" strike="noStrike">
              <a:solidFill>
                <a:schemeClr val="dk2"/>
              </a:solidFill>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199" name="Shape 199"/>
        <p:cNvGrpSpPr/>
        <p:nvPr/>
      </p:nvGrpSpPr>
      <p:grpSpPr>
        <a:xfrm>
          <a:off x="0" y="0"/>
          <a:ext cx="0" cy="0"/>
          <a:chOff x="0" y="0"/>
          <a:chExt cx="0" cy="0"/>
        </a:xfrm>
      </p:grpSpPr>
      <p:sp>
        <p:nvSpPr>
          <p:cNvPr id="200" name="Google Shape;200;p26"/>
          <p:cNvSpPr/>
          <p:nvPr/>
        </p:nvSpPr>
        <p:spPr>
          <a:xfrm>
            <a:off x="238125" y="428625"/>
            <a:ext cx="4333800" cy="2859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 sz="2300">
                <a:solidFill>
                  <a:srgbClr val="1E293B"/>
                </a:solidFill>
                <a:latin typeface="Liter"/>
                <a:ea typeface="Liter"/>
                <a:cs typeface="Liter"/>
                <a:sym typeface="Liter"/>
              </a:rPr>
              <a:t>Future Work</a:t>
            </a:r>
            <a:endParaRPr b="0" i="0" sz="1200" u="none" cap="none" strike="noStrike"/>
          </a:p>
        </p:txBody>
      </p:sp>
      <p:sp>
        <p:nvSpPr>
          <p:cNvPr id="201" name="Google Shape;201;p26"/>
          <p:cNvSpPr/>
          <p:nvPr/>
        </p:nvSpPr>
        <p:spPr>
          <a:xfrm>
            <a:off x="238125" y="785813"/>
            <a:ext cx="476250" cy="23813"/>
          </a:xfrm>
          <a:custGeom>
            <a:rect b="b" l="l" r="r" t="t"/>
            <a:pathLst>
              <a:path extrusionOk="0" h="31750" w="635000">
                <a:moveTo>
                  <a:pt x="0" y="0"/>
                </a:moveTo>
                <a:lnTo>
                  <a:pt x="635000" y="0"/>
                </a:lnTo>
                <a:lnTo>
                  <a:pt x="635000" y="31750"/>
                </a:lnTo>
                <a:lnTo>
                  <a:pt x="0" y="31750"/>
                </a:lnTo>
                <a:lnTo>
                  <a:pt x="0" y="0"/>
                </a:lnTo>
                <a:close/>
              </a:path>
            </a:pathLst>
          </a:custGeom>
          <a:solidFill>
            <a:srgbClr val="2563EB"/>
          </a:solidFill>
          <a:ln>
            <a:noFill/>
          </a:ln>
        </p:spPr>
      </p:sp>
      <p:sp>
        <p:nvSpPr>
          <p:cNvPr id="202" name="Google Shape;202;p26"/>
          <p:cNvSpPr/>
          <p:nvPr/>
        </p:nvSpPr>
        <p:spPr>
          <a:xfrm>
            <a:off x="238119" y="1306088"/>
            <a:ext cx="3214800" cy="1668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 sz="1200">
                <a:solidFill>
                  <a:srgbClr val="1E293B"/>
                </a:solidFill>
                <a:latin typeface="Liter"/>
                <a:ea typeface="Liter"/>
                <a:cs typeface="Liter"/>
                <a:sym typeface="Liter"/>
              </a:rPr>
              <a:t>Future work can extend the project by:</a:t>
            </a:r>
            <a:endParaRPr i="0" sz="1200" u="none" cap="none" strike="noStrike"/>
          </a:p>
        </p:txBody>
      </p:sp>
      <p:sp>
        <p:nvSpPr>
          <p:cNvPr id="203" name="Google Shape;203;p26"/>
          <p:cNvSpPr/>
          <p:nvPr/>
        </p:nvSpPr>
        <p:spPr>
          <a:xfrm>
            <a:off x="238125" y="1472900"/>
            <a:ext cx="5653200" cy="2852100"/>
          </a:xfrm>
          <a:prstGeom prst="rect">
            <a:avLst/>
          </a:prstGeom>
          <a:noFill/>
          <a:ln>
            <a:noFill/>
          </a:ln>
        </p:spPr>
        <p:txBody>
          <a:bodyPr anchorCtr="0" anchor="ctr" bIns="0" lIns="0" spcFirstLastPara="1" rIns="0" wrap="square" tIns="0">
            <a:noAutofit/>
          </a:bodyPr>
          <a:lstStyle/>
          <a:p>
            <a:pPr indent="-292100" lvl="0" marL="457200" marR="0" rtl="0" algn="l">
              <a:lnSpc>
                <a:spcPct val="140000"/>
              </a:lnSpc>
              <a:spcBef>
                <a:spcPts val="0"/>
              </a:spcBef>
              <a:spcAft>
                <a:spcPts val="0"/>
              </a:spcAft>
              <a:buSzPts val="1000"/>
              <a:buAutoNum type="arabicPeriod"/>
            </a:pPr>
            <a:r>
              <a:rPr lang="en" sz="1000"/>
              <a:t>Local Vision-Language Models: Currently, TestPilot relies on cloud APIs (OpenAI, Anthropic), introducing latency and cost. Future work could include integrating fine-tuned local open-source models to eliminate API costs and ensure absolute data privacy.</a:t>
            </a:r>
            <a:endParaRPr sz="1000"/>
          </a:p>
          <a:p>
            <a:pPr indent="0" lvl="0" marL="457200" marR="0" rtl="0" algn="l">
              <a:lnSpc>
                <a:spcPct val="140000"/>
              </a:lnSpc>
              <a:spcBef>
                <a:spcPts val="0"/>
              </a:spcBef>
              <a:spcAft>
                <a:spcPts val="0"/>
              </a:spcAft>
              <a:buNone/>
            </a:pPr>
            <a:r>
              <a:t/>
            </a:r>
            <a:endParaRPr sz="1000"/>
          </a:p>
          <a:p>
            <a:pPr indent="-292100" lvl="0" marL="457200" marR="0" rtl="0" algn="l">
              <a:lnSpc>
                <a:spcPct val="140000"/>
              </a:lnSpc>
              <a:spcBef>
                <a:spcPts val="0"/>
              </a:spcBef>
              <a:spcAft>
                <a:spcPts val="0"/>
              </a:spcAft>
              <a:buSzPts val="1000"/>
              <a:buAutoNum type="arabicPeriod"/>
            </a:pPr>
            <a:r>
              <a:rPr lang="en" sz="1000"/>
              <a:t>Parallel Execution Scaling: TestPilot runs one test at a time. Future work could implement parallel browser workers using sandboxed container instances to drastically reduce validation time for large test suites thus increasing the throughput.</a:t>
            </a:r>
            <a:endParaRPr sz="1000"/>
          </a:p>
          <a:p>
            <a:pPr indent="0" lvl="0" marL="457200" marR="0" rtl="0" algn="l">
              <a:lnSpc>
                <a:spcPct val="140000"/>
              </a:lnSpc>
              <a:spcBef>
                <a:spcPts val="0"/>
              </a:spcBef>
              <a:spcAft>
                <a:spcPts val="0"/>
              </a:spcAft>
              <a:buNone/>
            </a:pPr>
            <a:r>
              <a:t/>
            </a:r>
            <a:endParaRPr sz="1000"/>
          </a:p>
          <a:p>
            <a:pPr indent="-292100" lvl="0" marL="457200" marR="0" rtl="0" algn="l">
              <a:lnSpc>
                <a:spcPct val="140000"/>
              </a:lnSpc>
              <a:spcBef>
                <a:spcPts val="0"/>
              </a:spcBef>
              <a:spcAft>
                <a:spcPts val="0"/>
              </a:spcAft>
              <a:buSzPts val="1000"/>
              <a:buAutoNum type="arabicPeriod"/>
            </a:pPr>
            <a:r>
              <a:rPr lang="en" sz="1000"/>
              <a:t>Broader Observability: Future iterations could ingest browser console logs and network traffic, allowing the Assertor to detect silent JavaScript errors or failed backend API calls that don't appear on the visual interface.</a:t>
            </a:r>
            <a:endParaRPr sz="1000"/>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5F7FA"/>
        </a:solidFill>
      </p:bgPr>
    </p:bg>
    <p:spTree>
      <p:nvGrpSpPr>
        <p:cNvPr id="208" name="Shape 208"/>
        <p:cNvGrpSpPr/>
        <p:nvPr/>
      </p:nvGrpSpPr>
      <p:grpSpPr>
        <a:xfrm>
          <a:off x="0" y="0"/>
          <a:ext cx="0" cy="0"/>
          <a:chOff x="0" y="0"/>
          <a:chExt cx="0" cy="0"/>
        </a:xfrm>
      </p:grpSpPr>
      <p:sp>
        <p:nvSpPr>
          <p:cNvPr id="209" name="Google Shape;209;p27"/>
          <p:cNvSpPr/>
          <p:nvPr/>
        </p:nvSpPr>
        <p:spPr>
          <a:xfrm>
            <a:off x="2489849" y="1635150"/>
            <a:ext cx="4164300" cy="1873200"/>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b="1" lang="en" sz="3344">
                <a:solidFill>
                  <a:srgbClr val="1E293B"/>
                </a:solidFill>
                <a:latin typeface="Liter"/>
                <a:ea typeface="Liter"/>
                <a:cs typeface="Liter"/>
                <a:sym typeface="Liter"/>
              </a:rPr>
              <a:t>Thank You</a:t>
            </a:r>
            <a:endParaRPr b="0" i="0" sz="1600" u="none" cap="none" strike="noStrike"/>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