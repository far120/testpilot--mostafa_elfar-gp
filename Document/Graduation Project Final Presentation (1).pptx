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 id="214748366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Liter"/>
      <p:regular r:id="rId25"/>
    </p:embeddedFont>
    <p:embeddedFont>
      <p:font typeface="Quattrocento Sans"/>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QuattrocentoSans-regular.fntdata"/><Relationship Id="rId25" Type="http://schemas.openxmlformats.org/officeDocument/2006/relationships/font" Target="fonts/Liter-regular.fntdata"/><Relationship Id="rId28" Type="http://schemas.openxmlformats.org/officeDocument/2006/relationships/font" Target="fonts/QuattrocentoSans-italic.fntdata"/><Relationship Id="rId27" Type="http://schemas.openxmlformats.org/officeDocument/2006/relationships/font" Target="fonts/QuattrocentoSans-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QuattrocentoSans-boldItalic.fnt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3efb50ae914_0_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g3efb50ae914_0_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 name="Google Shape;57;g3efb50ae914_0_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efb50ae914_1_2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g3efb50ae914_1_2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g3efb50ae914_1_2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efb50ae914_1_4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g3efb50ae914_1_42: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g3efb50ae914_1_4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efb50ae914_1_9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g3efb50ae914_1_92: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g3efb50ae914_1_9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f0dc9a0514_0_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g3f0dc9a0514_0_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g3f0dc9a0514_0_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efb50ae914_1_21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g3efb50ae914_1_213: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g3efb50ae914_1_21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f0dc9a0514_0_3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g3f0dc9a0514_0_35: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g3f0dc9a0514_0_35: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efb50ae914_1_124: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g3efb50ae914_1_124: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g3efb50ae914_1_124: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efb50ae914_1_28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g3efb50ae914_1_285: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g3efb50ae914_1_285: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f0dc9a0514_0_10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g3f0dc9a0514_0_103: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g3f0dc9a0514_0_10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f0dc9a0514_0_11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g3f0dc9a0514_0_112: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g3f0dc9a0514_0_11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efb50ae914_1_159: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g3efb50ae914_1_159: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g3efb50ae914_1_159: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f0dc9a0514_0_94: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g3f0dc9a0514_0_94: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g3f0dc9a0514_0_94: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efb50ae914_1_296: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g3efb50ae914_1_296: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g3efb50ae914_1_296: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f0dc9a0514_0_7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g3f0dc9a0514_0_73: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g3f0dc9a0514_0_7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efb50ae914_1_31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g3efb50ae914_1_313: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g3efb50ae914_1_31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f0dc9a0514_0_6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g3f0dc9a0514_0_63: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g3f0dc9a0514_0_6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efb50ae914_1_337: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g3efb50ae914_1_337: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g3efb50ae914_1_337: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0" name="Shape 50"/>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2" name="Shape 52"/>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PTIST_MASTER">
  <p:cSld name="PPTIST_MASTER">
    <p:bg>
      <p:bgPr>
        <a:solidFill>
          <a:srgbClr val="FFFFFF"/>
        </a:solidFill>
      </p:bgPr>
    </p:bg>
    <p:spTree>
      <p:nvGrpSpPr>
        <p:cNvPr id="53" name="Shape 5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0" r:id="rId1"/>
    <p:sldLayoutId id="2147483661"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58" name="Shape 58"/>
        <p:cNvGrpSpPr/>
        <p:nvPr/>
      </p:nvGrpSpPr>
      <p:grpSpPr>
        <a:xfrm>
          <a:off x="0" y="0"/>
          <a:ext cx="0" cy="0"/>
          <a:chOff x="0" y="0"/>
          <a:chExt cx="0" cy="0"/>
        </a:xfrm>
      </p:grpSpPr>
      <p:sp>
        <p:nvSpPr>
          <p:cNvPr id="59" name="Google Shape;59;p17"/>
          <p:cNvSpPr/>
          <p:nvPr/>
        </p:nvSpPr>
        <p:spPr>
          <a:xfrm>
            <a:off x="2932511" y="1623765"/>
            <a:ext cx="3279000" cy="643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 sz="4100" u="none" cap="none" strike="noStrike">
                <a:solidFill>
                  <a:srgbClr val="1E293B"/>
                </a:solidFill>
                <a:latin typeface="Liter"/>
                <a:ea typeface="Liter"/>
                <a:cs typeface="Liter"/>
                <a:sym typeface="Liter"/>
              </a:rPr>
              <a:t>TestPilot</a:t>
            </a:r>
            <a:endParaRPr b="0" i="0" sz="1200" u="none" cap="none" strike="noStrike"/>
          </a:p>
        </p:txBody>
      </p:sp>
      <p:sp>
        <p:nvSpPr>
          <p:cNvPr id="60" name="Google Shape;60;p17"/>
          <p:cNvSpPr/>
          <p:nvPr/>
        </p:nvSpPr>
        <p:spPr>
          <a:xfrm>
            <a:off x="4114775" y="2674777"/>
            <a:ext cx="914400" cy="28575"/>
          </a:xfrm>
          <a:custGeom>
            <a:rect b="b" l="l" r="r" t="t"/>
            <a:pathLst>
              <a:path extrusionOk="0" h="38100" w="1219200">
                <a:moveTo>
                  <a:pt x="0" y="0"/>
                </a:moveTo>
                <a:lnTo>
                  <a:pt x="1219200" y="0"/>
                </a:lnTo>
                <a:lnTo>
                  <a:pt x="1219200" y="38100"/>
                </a:lnTo>
                <a:lnTo>
                  <a:pt x="0" y="38100"/>
                </a:lnTo>
                <a:lnTo>
                  <a:pt x="0" y="0"/>
                </a:lnTo>
                <a:close/>
              </a:path>
            </a:pathLst>
          </a:custGeom>
          <a:solidFill>
            <a:srgbClr val="2563EB"/>
          </a:solidFill>
          <a:ln>
            <a:noFill/>
          </a:ln>
        </p:spPr>
      </p:sp>
      <p:sp>
        <p:nvSpPr>
          <p:cNvPr id="61" name="Google Shape;61;p17"/>
          <p:cNvSpPr/>
          <p:nvPr/>
        </p:nvSpPr>
        <p:spPr>
          <a:xfrm>
            <a:off x="3007446" y="2228509"/>
            <a:ext cx="3129000" cy="3501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 sz="1700" u="none" cap="none" strike="noStrike">
                <a:solidFill>
                  <a:srgbClr val="64748B"/>
                </a:solidFill>
                <a:latin typeface="Quattrocento Sans"/>
                <a:ea typeface="Quattrocento Sans"/>
                <a:cs typeface="Quattrocento Sans"/>
                <a:sym typeface="Quattrocento Sans"/>
              </a:rPr>
              <a:t>Autonomous Web Testing Agent</a:t>
            </a:r>
            <a:endParaRPr b="0" i="0" sz="1200" u="none" cap="none" strike="noStrike"/>
          </a:p>
        </p:txBody>
      </p:sp>
      <p:sp>
        <p:nvSpPr>
          <p:cNvPr id="62" name="Google Shape;62;p17"/>
          <p:cNvSpPr txBox="1"/>
          <p:nvPr/>
        </p:nvSpPr>
        <p:spPr>
          <a:xfrm>
            <a:off x="3357000" y="3997025"/>
            <a:ext cx="2854500" cy="6927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n" sz="1200"/>
              <a:t>20220373 	Hesham Abdelnaser Ali 20221151 	Mostafa Mahmoud Hosni 20220212 	Ali Raouf Muhammed</a:t>
            </a:r>
            <a:endParaRPr sz="1200"/>
          </a:p>
        </p:txBody>
      </p:sp>
      <p:sp>
        <p:nvSpPr>
          <p:cNvPr id="63" name="Google Shape;63;p17"/>
          <p:cNvSpPr txBox="1"/>
          <p:nvPr/>
        </p:nvSpPr>
        <p:spPr>
          <a:xfrm>
            <a:off x="3894538" y="3722488"/>
            <a:ext cx="1355100" cy="3078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1100"/>
              <a:t>Team Members</a:t>
            </a:r>
            <a:endParaRPr sz="1100"/>
          </a:p>
        </p:txBody>
      </p:sp>
      <p:sp>
        <p:nvSpPr>
          <p:cNvPr id="64" name="Google Shape;64;p17"/>
          <p:cNvSpPr txBox="1"/>
          <p:nvPr/>
        </p:nvSpPr>
        <p:spPr>
          <a:xfrm>
            <a:off x="3894438" y="2799531"/>
            <a:ext cx="1355100" cy="3078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1100"/>
              <a:t>Supervision</a:t>
            </a:r>
            <a:endParaRPr sz="1100"/>
          </a:p>
        </p:txBody>
      </p:sp>
      <p:sp>
        <p:nvSpPr>
          <p:cNvPr id="65" name="Google Shape;65;p17"/>
          <p:cNvSpPr txBox="1"/>
          <p:nvPr/>
        </p:nvSpPr>
        <p:spPr>
          <a:xfrm>
            <a:off x="3447025" y="3099681"/>
            <a:ext cx="2250000" cy="5079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1200"/>
              <a:t>Dr. Basher Abdelfattah </a:t>
            </a:r>
            <a:endParaRPr sz="1200"/>
          </a:p>
          <a:p>
            <a:pPr indent="0" lvl="0" marL="0" rtl="0" algn="ctr">
              <a:spcBef>
                <a:spcPts val="0"/>
              </a:spcBef>
              <a:spcAft>
                <a:spcPts val="0"/>
              </a:spcAft>
              <a:buNone/>
            </a:pPr>
            <a:r>
              <a:rPr lang="en" sz="1200"/>
              <a:t>TA. Muhammad Atta</a:t>
            </a:r>
            <a:endParaRPr sz="1200"/>
          </a:p>
        </p:txBody>
      </p:sp>
      <p:pic>
        <p:nvPicPr>
          <p:cNvPr id="66" name="Google Shape;66;p17"/>
          <p:cNvPicPr preferRelativeResize="0"/>
          <p:nvPr/>
        </p:nvPicPr>
        <p:blipFill rotWithShape="1">
          <a:blip r:embed="rId3">
            <a:alphaModFix/>
          </a:blip>
          <a:srcRect b="0" l="0" r="55251" t="0"/>
          <a:stretch/>
        </p:blipFill>
        <p:spPr>
          <a:xfrm>
            <a:off x="879025" y="153200"/>
            <a:ext cx="2053476" cy="1258600"/>
          </a:xfrm>
          <a:prstGeom prst="rect">
            <a:avLst/>
          </a:prstGeom>
          <a:noFill/>
          <a:ln>
            <a:noFill/>
          </a:ln>
        </p:spPr>
      </p:pic>
      <p:pic>
        <p:nvPicPr>
          <p:cNvPr id="67" name="Google Shape;67;p17"/>
          <p:cNvPicPr preferRelativeResize="0"/>
          <p:nvPr/>
        </p:nvPicPr>
        <p:blipFill rotWithShape="1">
          <a:blip r:embed="rId3">
            <a:alphaModFix/>
          </a:blip>
          <a:srcRect b="0" l="78484" r="0" t="0"/>
          <a:stretch/>
        </p:blipFill>
        <p:spPr>
          <a:xfrm>
            <a:off x="6408693" y="153198"/>
            <a:ext cx="1023355" cy="1258600"/>
          </a:xfrm>
          <a:prstGeom prst="rect">
            <a:avLst/>
          </a:prstGeom>
          <a:noFill/>
          <a:ln>
            <a:noFill/>
          </a:ln>
        </p:spPr>
      </p:pic>
      <p:sp>
        <p:nvSpPr>
          <p:cNvPr id="68" name="Google Shape;68;p17"/>
          <p:cNvSpPr/>
          <p:nvPr/>
        </p:nvSpPr>
        <p:spPr>
          <a:xfrm>
            <a:off x="3219721" y="4703584"/>
            <a:ext cx="3129000" cy="35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 sz="1000">
                <a:solidFill>
                  <a:srgbClr val="64748B"/>
                </a:solidFill>
                <a:latin typeface="Quattrocento Sans"/>
                <a:ea typeface="Quattrocento Sans"/>
                <a:cs typeface="Quattrocento Sans"/>
                <a:sym typeface="Quattrocento Sans"/>
              </a:rPr>
              <a:t>Graduation Project Final Presentation</a:t>
            </a:r>
            <a:br>
              <a:rPr lang="en" sz="1000">
                <a:solidFill>
                  <a:srgbClr val="64748B"/>
                </a:solidFill>
                <a:latin typeface="Quattrocento Sans"/>
                <a:ea typeface="Quattrocento Sans"/>
                <a:cs typeface="Quattrocento Sans"/>
                <a:sym typeface="Quattrocento Sans"/>
              </a:rPr>
            </a:br>
            <a:r>
              <a:rPr lang="en" sz="1000">
                <a:solidFill>
                  <a:srgbClr val="64748B"/>
                </a:solidFill>
                <a:latin typeface="Quattrocento Sans"/>
                <a:ea typeface="Quattrocento Sans"/>
                <a:cs typeface="Quattrocento Sans"/>
                <a:sym typeface="Quattrocento Sans"/>
              </a:rPr>
              <a:t>Academic Year 2025/2026</a:t>
            </a:r>
            <a:endParaRPr b="0" i="0" sz="1000" u="none" cap="none" strike="noStrike"/>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73" name="Shape 73"/>
        <p:cNvGrpSpPr/>
        <p:nvPr/>
      </p:nvGrpSpPr>
      <p:grpSpPr>
        <a:xfrm>
          <a:off x="0" y="0"/>
          <a:ext cx="0" cy="0"/>
          <a:chOff x="0" y="0"/>
          <a:chExt cx="0" cy="0"/>
        </a:xfrm>
      </p:grpSpPr>
      <p:sp>
        <p:nvSpPr>
          <p:cNvPr id="74" name="Google Shape;74;p18"/>
          <p:cNvSpPr/>
          <p:nvPr/>
        </p:nvSpPr>
        <p:spPr>
          <a:xfrm>
            <a:off x="285750" y="531673"/>
            <a:ext cx="8744100" cy="3687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lang="en" sz="2700">
                <a:solidFill>
                  <a:srgbClr val="1E293B"/>
                </a:solidFill>
                <a:latin typeface="Liter"/>
                <a:ea typeface="Liter"/>
                <a:cs typeface="Liter"/>
                <a:sym typeface="Liter"/>
              </a:rPr>
              <a:t>The Problem: Fragile Web Test Automation</a:t>
            </a:r>
            <a:endParaRPr b="0" i="0" sz="1200" u="none" cap="none" strike="noStrike"/>
          </a:p>
        </p:txBody>
      </p:sp>
      <p:sp>
        <p:nvSpPr>
          <p:cNvPr id="75" name="Google Shape;75;p18"/>
          <p:cNvSpPr/>
          <p:nvPr/>
        </p:nvSpPr>
        <p:spPr>
          <a:xfrm>
            <a:off x="285750" y="992779"/>
            <a:ext cx="571500" cy="30766"/>
          </a:xfrm>
          <a:custGeom>
            <a:rect b="b" l="l" r="r" t="t"/>
            <a:pathLst>
              <a:path extrusionOk="0" h="38100" w="762000">
                <a:moveTo>
                  <a:pt x="0" y="0"/>
                </a:moveTo>
                <a:lnTo>
                  <a:pt x="762000" y="0"/>
                </a:lnTo>
                <a:lnTo>
                  <a:pt x="762000" y="38100"/>
                </a:lnTo>
                <a:lnTo>
                  <a:pt x="0" y="38100"/>
                </a:lnTo>
                <a:lnTo>
                  <a:pt x="0" y="0"/>
                </a:lnTo>
                <a:close/>
              </a:path>
            </a:pathLst>
          </a:custGeom>
          <a:solidFill>
            <a:srgbClr val="2563EB"/>
          </a:solidFill>
          <a:ln>
            <a:noFill/>
          </a:ln>
        </p:spPr>
      </p:sp>
      <p:sp>
        <p:nvSpPr>
          <p:cNvPr id="76" name="Google Shape;76;p18"/>
          <p:cNvSpPr/>
          <p:nvPr/>
        </p:nvSpPr>
        <p:spPr>
          <a:xfrm>
            <a:off x="325438" y="1600543"/>
            <a:ext cx="4257600" cy="2460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n" sz="1400" u="none" cap="none" strike="noStrike">
                <a:solidFill>
                  <a:srgbClr val="1E293B"/>
                </a:solidFill>
                <a:latin typeface="Liter"/>
                <a:ea typeface="Liter"/>
                <a:cs typeface="Liter"/>
                <a:sym typeface="Liter"/>
              </a:rPr>
              <a:t>Current State of Web Testing</a:t>
            </a:r>
            <a:endParaRPr b="0" i="0" sz="1200" u="none" cap="none" strike="noStrike"/>
          </a:p>
        </p:txBody>
      </p:sp>
      <p:sp>
        <p:nvSpPr>
          <p:cNvPr id="77" name="Google Shape;77;p18"/>
          <p:cNvSpPr/>
          <p:nvPr/>
        </p:nvSpPr>
        <p:spPr>
          <a:xfrm>
            <a:off x="325438" y="1969428"/>
            <a:ext cx="4236300" cy="676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1000">
                <a:solidFill>
                  <a:srgbClr val="1E293B"/>
                </a:solidFill>
                <a:latin typeface="Quattrocento Sans"/>
                <a:ea typeface="Quattrocento Sans"/>
                <a:cs typeface="Quattrocento Sans"/>
                <a:sym typeface="Quattrocento Sans"/>
              </a:rPr>
              <a:t>Quality Assurance has evolved from manual testing to automated frameworks, but a fundamental weakness remains: tests are coupled to implementation details.</a:t>
            </a:r>
            <a:endParaRPr i="0" sz="1000" u="none" cap="none" strike="noStrike">
              <a:solidFill>
                <a:srgbClr val="1E293B"/>
              </a:solidFill>
              <a:latin typeface="Quattrocento Sans"/>
              <a:ea typeface="Quattrocento Sans"/>
              <a:cs typeface="Quattrocento Sans"/>
              <a:sym typeface="Quattrocento Sans"/>
            </a:endParaRPr>
          </a:p>
        </p:txBody>
      </p:sp>
      <p:sp>
        <p:nvSpPr>
          <p:cNvPr id="78" name="Google Shape;78;p18"/>
          <p:cNvSpPr/>
          <p:nvPr/>
        </p:nvSpPr>
        <p:spPr>
          <a:xfrm>
            <a:off x="325438" y="2643570"/>
            <a:ext cx="4236300" cy="8994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1000">
                <a:solidFill>
                  <a:srgbClr val="1E293B"/>
                </a:solidFill>
                <a:latin typeface="Quattrocento Sans"/>
                <a:ea typeface="Quattrocento Sans"/>
                <a:cs typeface="Quattrocento Sans"/>
                <a:sym typeface="Quattrocento Sans"/>
              </a:rPr>
              <a:t>Frameworks like Selenium and Playwright rely on DOM-dependent strategies (CSS selectors, XPath). When UIs are refactored, these selectors break, creating a high maintenance burden.</a:t>
            </a:r>
            <a:endParaRPr b="0" i="0" sz="1200" u="none" cap="none" strike="noStrike"/>
          </a:p>
        </p:txBody>
      </p:sp>
      <p:sp>
        <p:nvSpPr>
          <p:cNvPr id="79" name="Google Shape;79;p18"/>
          <p:cNvSpPr/>
          <p:nvPr/>
        </p:nvSpPr>
        <p:spPr>
          <a:xfrm>
            <a:off x="4903869" y="1600551"/>
            <a:ext cx="3914700" cy="2460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n" sz="1400" u="none" cap="none" strike="noStrike">
                <a:solidFill>
                  <a:srgbClr val="1E293B"/>
                </a:solidFill>
                <a:latin typeface="Liter"/>
                <a:ea typeface="Liter"/>
                <a:cs typeface="Liter"/>
                <a:sym typeface="Liter"/>
              </a:rPr>
              <a:t>The Selector Fragility Problem</a:t>
            </a:r>
            <a:endParaRPr b="0" i="0" sz="1200" u="none" cap="none" strike="noStrike"/>
          </a:p>
        </p:txBody>
      </p:sp>
      <p:sp>
        <p:nvSpPr>
          <p:cNvPr id="80" name="Google Shape;80;p18"/>
          <p:cNvSpPr/>
          <p:nvPr/>
        </p:nvSpPr>
        <p:spPr>
          <a:xfrm>
            <a:off x="5068606" y="1944465"/>
            <a:ext cx="2843400" cy="2151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 sz="1000" u="none" cap="none" strike="noStrike">
                <a:solidFill>
                  <a:srgbClr val="1E293B"/>
                </a:solidFill>
                <a:latin typeface="Quattrocento Sans"/>
                <a:ea typeface="Quattrocento Sans"/>
                <a:cs typeface="Quattrocento Sans"/>
                <a:sym typeface="Quattrocento Sans"/>
              </a:rPr>
              <a:t>DOM Structure Changes</a:t>
            </a:r>
            <a:endParaRPr b="0" i="0" sz="1200" u="none" cap="none" strike="noStrike"/>
          </a:p>
        </p:txBody>
      </p:sp>
      <p:sp>
        <p:nvSpPr>
          <p:cNvPr id="81" name="Google Shape;81;p18"/>
          <p:cNvSpPr/>
          <p:nvPr/>
        </p:nvSpPr>
        <p:spPr>
          <a:xfrm>
            <a:off x="5068606" y="2190388"/>
            <a:ext cx="2836200" cy="184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 sz="900" u="none" cap="none" strike="noStrike">
                <a:solidFill>
                  <a:srgbClr val="64748B"/>
                </a:solidFill>
                <a:latin typeface="Quattrocento Sans"/>
                <a:ea typeface="Quattrocento Sans"/>
                <a:cs typeface="Quattrocento Sans"/>
                <a:sym typeface="Quattrocento Sans"/>
              </a:rPr>
              <a:t>Elements move within hierarchy, identifiers get renamed</a:t>
            </a:r>
            <a:endParaRPr b="0" i="0" sz="1200" u="none" cap="none" strike="noStrike"/>
          </a:p>
        </p:txBody>
      </p:sp>
      <p:sp>
        <p:nvSpPr>
          <p:cNvPr id="82" name="Google Shape;82;p18"/>
          <p:cNvSpPr/>
          <p:nvPr/>
        </p:nvSpPr>
        <p:spPr>
          <a:xfrm>
            <a:off x="5068606" y="2497792"/>
            <a:ext cx="2393100" cy="2151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 sz="1000" u="none" cap="none" strike="noStrike">
                <a:solidFill>
                  <a:srgbClr val="1E293B"/>
                </a:solidFill>
                <a:latin typeface="Quattrocento Sans"/>
                <a:ea typeface="Quattrocento Sans"/>
                <a:cs typeface="Quattrocento Sans"/>
                <a:sym typeface="Quattrocento Sans"/>
              </a:rPr>
              <a:t>Component Evolution</a:t>
            </a:r>
            <a:endParaRPr b="0" i="0" sz="1200" u="none" cap="none" strike="noStrike"/>
          </a:p>
        </p:txBody>
      </p:sp>
      <p:sp>
        <p:nvSpPr>
          <p:cNvPr id="83" name="Google Shape;83;p18"/>
          <p:cNvSpPr/>
          <p:nvPr/>
        </p:nvSpPr>
        <p:spPr>
          <a:xfrm>
            <a:off x="5068606" y="2743715"/>
            <a:ext cx="2385900" cy="184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 sz="900" u="none" cap="none" strike="noStrike">
                <a:solidFill>
                  <a:srgbClr val="64748B"/>
                </a:solidFill>
                <a:latin typeface="Quattrocento Sans"/>
                <a:ea typeface="Quattrocento Sans"/>
                <a:cs typeface="Quattrocento Sans"/>
                <a:sym typeface="Quattrocento Sans"/>
              </a:rPr>
              <a:t>Composition changes invalidate dozens of tests</a:t>
            </a:r>
            <a:endParaRPr b="0" i="0" sz="1200" u="none" cap="none" strike="noStrike"/>
          </a:p>
        </p:txBody>
      </p:sp>
      <p:sp>
        <p:nvSpPr>
          <p:cNvPr id="84" name="Google Shape;84;p18"/>
          <p:cNvSpPr/>
          <p:nvPr/>
        </p:nvSpPr>
        <p:spPr>
          <a:xfrm>
            <a:off x="5068606" y="3051119"/>
            <a:ext cx="2021700" cy="2151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 sz="1000" u="none" cap="none" strike="noStrike">
                <a:solidFill>
                  <a:srgbClr val="1E293B"/>
                </a:solidFill>
                <a:latin typeface="Quattrocento Sans"/>
                <a:ea typeface="Quattrocento Sans"/>
                <a:cs typeface="Quattrocento Sans"/>
                <a:sym typeface="Quattrocento Sans"/>
              </a:rPr>
              <a:t>Maintenance Burden</a:t>
            </a:r>
            <a:endParaRPr b="0" i="0" sz="1200" u="none" cap="none" strike="noStrike"/>
          </a:p>
        </p:txBody>
      </p:sp>
      <p:sp>
        <p:nvSpPr>
          <p:cNvPr id="85" name="Google Shape;85;p18"/>
          <p:cNvSpPr/>
          <p:nvPr/>
        </p:nvSpPr>
        <p:spPr>
          <a:xfrm>
            <a:off x="5068606" y="3297043"/>
            <a:ext cx="2014800" cy="184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 sz="900" u="none" cap="none" strike="noStrike">
                <a:solidFill>
                  <a:srgbClr val="64748B"/>
                </a:solidFill>
                <a:latin typeface="Quattrocento Sans"/>
                <a:ea typeface="Quattrocento Sans"/>
                <a:cs typeface="Quattrocento Sans"/>
                <a:sym typeface="Quattrocento Sans"/>
              </a:rPr>
              <a:t>Cost grows with application complexity</a:t>
            </a:r>
            <a:endParaRPr b="0" i="0" sz="1200" u="none" cap="none" strike="noStrike"/>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90" name="Shape 90"/>
        <p:cNvGrpSpPr/>
        <p:nvPr/>
      </p:nvGrpSpPr>
      <p:grpSpPr>
        <a:xfrm>
          <a:off x="0" y="0"/>
          <a:ext cx="0" cy="0"/>
          <a:chOff x="0" y="0"/>
          <a:chExt cx="0" cy="0"/>
        </a:xfrm>
      </p:grpSpPr>
      <p:pic>
        <p:nvPicPr>
          <p:cNvPr id="91" name="Google Shape;91;p19" title="presentation_img_1.png"/>
          <p:cNvPicPr preferRelativeResize="0"/>
          <p:nvPr/>
        </p:nvPicPr>
        <p:blipFill rotWithShape="1">
          <a:blip r:embed="rId3">
            <a:alphaModFix/>
          </a:blip>
          <a:srcRect b="0" l="0" r="0" t="11637"/>
          <a:stretch/>
        </p:blipFill>
        <p:spPr>
          <a:xfrm>
            <a:off x="165613" y="150325"/>
            <a:ext cx="8812774" cy="4275651"/>
          </a:xfrm>
          <a:prstGeom prst="rect">
            <a:avLst/>
          </a:prstGeom>
          <a:noFill/>
          <a:ln>
            <a:noFill/>
          </a:ln>
        </p:spPr>
      </p:pic>
      <p:sp>
        <p:nvSpPr>
          <p:cNvPr id="92" name="Google Shape;92;p19"/>
          <p:cNvSpPr txBox="1"/>
          <p:nvPr/>
        </p:nvSpPr>
        <p:spPr>
          <a:xfrm>
            <a:off x="1438950" y="4483975"/>
            <a:ext cx="6266100" cy="43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E293B"/>
                </a:solidFill>
                <a:latin typeface="Quattrocento Sans"/>
                <a:ea typeface="Quattrocento Sans"/>
                <a:cs typeface="Quattrocento Sans"/>
                <a:sym typeface="Quattrocento Sans"/>
              </a:rPr>
              <a:t>This creates a maintenance death spiral. You write a test, the UI changes, the test breaks, you fix it, and the cycle repeats. It’s a significant expense for software teams and makes CI/CD pipelines unreliable.</a:t>
            </a:r>
            <a:endParaRPr sz="1000">
              <a:solidFill>
                <a:srgbClr val="1E293B"/>
              </a:solidFill>
              <a:latin typeface="Quattrocento Sans"/>
              <a:ea typeface="Quattrocento Sans"/>
              <a:cs typeface="Quattrocento Sans"/>
              <a:sym typeface="Quattrocento Sans"/>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97" name="Shape 97"/>
        <p:cNvGrpSpPr/>
        <p:nvPr/>
      </p:nvGrpSpPr>
      <p:grpSpPr>
        <a:xfrm>
          <a:off x="0" y="0"/>
          <a:ext cx="0" cy="0"/>
          <a:chOff x="0" y="0"/>
          <a:chExt cx="0" cy="0"/>
        </a:xfrm>
      </p:grpSpPr>
      <p:sp>
        <p:nvSpPr>
          <p:cNvPr id="98" name="Google Shape;98;p20"/>
          <p:cNvSpPr/>
          <p:nvPr/>
        </p:nvSpPr>
        <p:spPr>
          <a:xfrm>
            <a:off x="285750" y="514350"/>
            <a:ext cx="8744100" cy="3429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i="0" lang="en" sz="2700" u="none" cap="none" strike="noStrike">
                <a:solidFill>
                  <a:srgbClr val="1E293B"/>
                </a:solidFill>
                <a:latin typeface="Liter"/>
                <a:ea typeface="Liter"/>
                <a:cs typeface="Liter"/>
                <a:sym typeface="Liter"/>
              </a:rPr>
              <a:t>Project Vision &amp; Objectives</a:t>
            </a:r>
            <a:endParaRPr b="0" i="0" sz="1200" u="none" cap="none" strike="noStrike"/>
          </a:p>
        </p:txBody>
      </p:sp>
      <p:sp>
        <p:nvSpPr>
          <p:cNvPr id="99" name="Google Shape;99;p20"/>
          <p:cNvSpPr/>
          <p:nvPr/>
        </p:nvSpPr>
        <p:spPr>
          <a:xfrm>
            <a:off x="285750" y="942975"/>
            <a:ext cx="571500" cy="28575"/>
          </a:xfrm>
          <a:custGeom>
            <a:rect b="b" l="l" r="r" t="t"/>
            <a:pathLst>
              <a:path extrusionOk="0" h="38100" w="762000">
                <a:moveTo>
                  <a:pt x="0" y="0"/>
                </a:moveTo>
                <a:lnTo>
                  <a:pt x="762000" y="0"/>
                </a:lnTo>
                <a:lnTo>
                  <a:pt x="762000" y="38100"/>
                </a:lnTo>
                <a:lnTo>
                  <a:pt x="0" y="38100"/>
                </a:lnTo>
                <a:lnTo>
                  <a:pt x="0" y="0"/>
                </a:lnTo>
                <a:close/>
              </a:path>
            </a:pathLst>
          </a:custGeom>
          <a:solidFill>
            <a:srgbClr val="2563EB"/>
          </a:solidFill>
          <a:ln>
            <a:noFill/>
          </a:ln>
        </p:spPr>
      </p:sp>
      <p:sp>
        <p:nvSpPr>
          <p:cNvPr id="100" name="Google Shape;100;p20"/>
          <p:cNvSpPr/>
          <p:nvPr/>
        </p:nvSpPr>
        <p:spPr>
          <a:xfrm>
            <a:off x="285750" y="1237655"/>
            <a:ext cx="7386900" cy="4644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1100">
                <a:solidFill>
                  <a:srgbClr val="1E293B"/>
                </a:solidFill>
                <a:latin typeface="Quattrocento Sans"/>
                <a:ea typeface="Quattrocento Sans"/>
                <a:cs typeface="Quattrocento Sans"/>
                <a:sym typeface="Quattrocento Sans"/>
              </a:rPr>
              <a:t>TestPilot’s aim was to create an autonomous testing agent that reduces maintenance overhead and improves reliability by executing acceptance tests directly from natural language steps.</a:t>
            </a:r>
            <a:endParaRPr b="0" i="0" sz="1200" u="none" cap="none" strike="noStrike"/>
          </a:p>
        </p:txBody>
      </p:sp>
      <p:sp>
        <p:nvSpPr>
          <p:cNvPr id="101" name="Google Shape;101;p20"/>
          <p:cNvSpPr/>
          <p:nvPr/>
        </p:nvSpPr>
        <p:spPr>
          <a:xfrm>
            <a:off x="446425" y="2266111"/>
            <a:ext cx="2486100" cy="228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n" sz="1400" u="none" cap="none" strike="noStrike">
                <a:solidFill>
                  <a:srgbClr val="1E293B"/>
                </a:solidFill>
                <a:latin typeface="Liter"/>
                <a:ea typeface="Liter"/>
                <a:cs typeface="Liter"/>
                <a:sym typeface="Liter"/>
              </a:rPr>
              <a:t>Eliminate Selector Maintenance</a:t>
            </a:r>
            <a:endParaRPr b="0" i="0" sz="1200" u="none" cap="none" strike="noStrike"/>
          </a:p>
        </p:txBody>
      </p:sp>
      <p:sp>
        <p:nvSpPr>
          <p:cNvPr id="102" name="Google Shape;102;p20"/>
          <p:cNvSpPr/>
          <p:nvPr/>
        </p:nvSpPr>
        <p:spPr>
          <a:xfrm>
            <a:off x="446425" y="2580436"/>
            <a:ext cx="2457600" cy="7431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900">
                <a:solidFill>
                  <a:srgbClr val="1E293B"/>
                </a:solidFill>
                <a:latin typeface="Quattrocento Sans"/>
                <a:ea typeface="Quattrocento Sans"/>
                <a:cs typeface="Quattrocento Sans"/>
                <a:sym typeface="Quattrocento Sans"/>
              </a:rPr>
              <a:t>Tests survive UI refactoring by grounding actions in observable UI state (screenshots &amp; structure) instead of pre-written selectors.</a:t>
            </a:r>
            <a:endParaRPr b="0" i="0" sz="1200" u="none" cap="none" strike="noStrike">
              <a:solidFill>
                <a:srgbClr val="1E293B"/>
              </a:solidFill>
            </a:endParaRPr>
          </a:p>
        </p:txBody>
      </p:sp>
      <p:sp>
        <p:nvSpPr>
          <p:cNvPr id="103" name="Google Shape;103;p20"/>
          <p:cNvSpPr/>
          <p:nvPr/>
        </p:nvSpPr>
        <p:spPr>
          <a:xfrm>
            <a:off x="3361075" y="2266111"/>
            <a:ext cx="2486100" cy="228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n" sz="1400" u="none" cap="none" strike="noStrike">
                <a:solidFill>
                  <a:srgbClr val="1E293B"/>
                </a:solidFill>
                <a:latin typeface="Liter"/>
                <a:ea typeface="Liter"/>
                <a:cs typeface="Liter"/>
                <a:sym typeface="Liter"/>
              </a:rPr>
              <a:t>Accessible Test Creation</a:t>
            </a:r>
            <a:endParaRPr b="0" i="0" sz="1200" u="none" cap="none" strike="noStrike"/>
          </a:p>
        </p:txBody>
      </p:sp>
      <p:sp>
        <p:nvSpPr>
          <p:cNvPr id="104" name="Google Shape;104;p20"/>
          <p:cNvSpPr/>
          <p:nvPr/>
        </p:nvSpPr>
        <p:spPr>
          <a:xfrm>
            <a:off x="3361075" y="2580436"/>
            <a:ext cx="2457600" cy="7431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900">
                <a:solidFill>
                  <a:srgbClr val="1E293B"/>
                </a:solidFill>
                <a:latin typeface="Quattrocento Sans"/>
                <a:ea typeface="Quattrocento Sans"/>
                <a:cs typeface="Quattrocento Sans"/>
                <a:sym typeface="Quattrocento Sans"/>
              </a:rPr>
              <a:t>Allows stakeholders (PMs, BAs) to contribute to automation, bridging the gap between business requirements and technical implementation.</a:t>
            </a:r>
            <a:endParaRPr b="0" i="0" sz="1200" u="none" cap="none" strike="noStrike">
              <a:solidFill>
                <a:srgbClr val="1E293B"/>
              </a:solidFill>
            </a:endParaRPr>
          </a:p>
        </p:txBody>
      </p:sp>
      <p:sp>
        <p:nvSpPr>
          <p:cNvPr id="105" name="Google Shape;105;p20"/>
          <p:cNvSpPr/>
          <p:nvPr/>
        </p:nvSpPr>
        <p:spPr>
          <a:xfrm>
            <a:off x="6275725" y="2266111"/>
            <a:ext cx="2486100" cy="228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n" sz="1400" u="none" cap="none" strike="noStrike">
                <a:solidFill>
                  <a:srgbClr val="1E293B"/>
                </a:solidFill>
                <a:latin typeface="Liter"/>
                <a:ea typeface="Liter"/>
                <a:cs typeface="Liter"/>
                <a:sym typeface="Liter"/>
              </a:rPr>
              <a:t>Visual Verification</a:t>
            </a:r>
            <a:endParaRPr b="0" i="0" sz="1200" u="none" cap="none" strike="noStrike"/>
          </a:p>
        </p:txBody>
      </p:sp>
      <p:sp>
        <p:nvSpPr>
          <p:cNvPr id="106" name="Google Shape;106;p20"/>
          <p:cNvSpPr/>
          <p:nvPr/>
        </p:nvSpPr>
        <p:spPr>
          <a:xfrm>
            <a:off x="6275725" y="2580436"/>
            <a:ext cx="2457600" cy="7431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900">
                <a:solidFill>
                  <a:srgbClr val="1E293B"/>
                </a:solidFill>
                <a:latin typeface="Quattrocento Sans"/>
                <a:ea typeface="Quattrocento Sans"/>
                <a:cs typeface="Quattrocento Sans"/>
                <a:sym typeface="Quattrocento Sans"/>
              </a:rPr>
              <a:t>Validate the actual user experience—confirming elements are visible, interactable, and not merely present in the DOM.</a:t>
            </a:r>
            <a:endParaRPr b="0" i="0" sz="1200" u="none" cap="none" strike="noStrike">
              <a:solidFill>
                <a:srgbClr val="1E293B"/>
              </a:solidFill>
            </a:endParaRPr>
          </a:p>
        </p:txBody>
      </p:sp>
      <p:sp>
        <p:nvSpPr>
          <p:cNvPr id="107" name="Google Shape;107;p20"/>
          <p:cNvSpPr/>
          <p:nvPr/>
        </p:nvSpPr>
        <p:spPr>
          <a:xfrm>
            <a:off x="289322" y="3837246"/>
            <a:ext cx="8565356" cy="714375"/>
          </a:xfrm>
          <a:custGeom>
            <a:rect b="b" l="l" r="r" t="t"/>
            <a:pathLst>
              <a:path extrusionOk="0" h="952500" w="11420475">
                <a:moveTo>
                  <a:pt x="114300" y="0"/>
                </a:moveTo>
                <a:lnTo>
                  <a:pt x="11306175" y="0"/>
                </a:lnTo>
                <a:cubicBezTo>
                  <a:pt x="11369259" y="0"/>
                  <a:pt x="11420475" y="51216"/>
                  <a:pt x="11420475" y="114300"/>
                </a:cubicBezTo>
                <a:lnTo>
                  <a:pt x="11420475" y="838200"/>
                </a:lnTo>
                <a:cubicBezTo>
                  <a:pt x="11420475" y="901284"/>
                  <a:pt x="11369259" y="952500"/>
                  <a:pt x="11306175" y="952500"/>
                </a:cubicBezTo>
                <a:lnTo>
                  <a:pt x="114300" y="952500"/>
                </a:lnTo>
                <a:cubicBezTo>
                  <a:pt x="51216" y="952500"/>
                  <a:pt x="0" y="901284"/>
                  <a:pt x="0" y="838200"/>
                </a:cubicBezTo>
                <a:lnTo>
                  <a:pt x="0" y="114300"/>
                </a:lnTo>
                <a:cubicBezTo>
                  <a:pt x="0" y="51216"/>
                  <a:pt x="51216" y="0"/>
                  <a:pt x="114300" y="0"/>
                </a:cubicBezTo>
                <a:close/>
              </a:path>
            </a:pathLst>
          </a:custGeom>
          <a:solidFill>
            <a:srgbClr val="2563EB">
              <a:alpha val="4710"/>
            </a:srgbClr>
          </a:solidFill>
          <a:ln cap="flat" cmpd="sng" w="9525">
            <a:solidFill>
              <a:srgbClr val="2563EB">
                <a:alpha val="20000"/>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8" name="Google Shape;108;p20"/>
          <p:cNvSpPr/>
          <p:nvPr/>
        </p:nvSpPr>
        <p:spPr>
          <a:xfrm>
            <a:off x="435769" y="3983692"/>
            <a:ext cx="8336700" cy="421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1" lang="en" sz="1000">
                <a:solidFill>
                  <a:srgbClr val="2563EB"/>
                </a:solidFill>
                <a:latin typeface="Quattrocento Sans"/>
                <a:ea typeface="Quattrocento Sans"/>
                <a:cs typeface="Quattrocento Sans"/>
                <a:sym typeface="Quattrocento Sans"/>
              </a:rPr>
              <a:t>Approach</a:t>
            </a:r>
            <a:r>
              <a:rPr b="1" i="0" lang="en" sz="1000" u="none" cap="none" strike="noStrike">
                <a:solidFill>
                  <a:srgbClr val="2563EB"/>
                </a:solidFill>
                <a:latin typeface="Quattrocento Sans"/>
                <a:ea typeface="Quattrocento Sans"/>
                <a:cs typeface="Quattrocento Sans"/>
                <a:sym typeface="Quattrocento Sans"/>
              </a:rPr>
              <a:t>:</a:t>
            </a:r>
            <a:r>
              <a:rPr b="0" i="0" lang="en" sz="1000" u="none" cap="none" strike="noStrike">
                <a:solidFill>
                  <a:srgbClr val="1E293B"/>
                </a:solidFill>
                <a:latin typeface="Quattrocento Sans"/>
                <a:ea typeface="Quattrocento Sans"/>
                <a:cs typeface="Quattrocento Sans"/>
                <a:sym typeface="Quattrocento Sans"/>
              </a:rPr>
              <a:t> </a:t>
            </a:r>
            <a:r>
              <a:rPr lang="en" sz="1000">
                <a:solidFill>
                  <a:srgbClr val="1E293B"/>
                </a:solidFill>
                <a:latin typeface="Quattrocento Sans"/>
                <a:ea typeface="Quattrocento Sans"/>
                <a:cs typeface="Quattrocento Sans"/>
                <a:sym typeface="Quattrocento Sans"/>
              </a:rPr>
              <a:t>Use multi-modal LLMs to interpret natural language test cases and execute them dynamically, observing the page, reasoning, and acting without pre-written selectors. This approach can reduce reliance on fragile DOM selectors and minimize maintenance overhead.</a:t>
            </a:r>
            <a:endParaRPr b="0" i="0" sz="1200" u="none" cap="none" strike="noStrike"/>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13" name="Shape 113"/>
        <p:cNvGrpSpPr/>
        <p:nvPr/>
      </p:nvGrpSpPr>
      <p:grpSpPr>
        <a:xfrm>
          <a:off x="0" y="0"/>
          <a:ext cx="0" cy="0"/>
          <a:chOff x="0" y="0"/>
          <a:chExt cx="0" cy="0"/>
        </a:xfrm>
      </p:grpSpPr>
      <p:sp>
        <p:nvSpPr>
          <p:cNvPr id="114" name="Google Shape;114;p21"/>
          <p:cNvSpPr/>
          <p:nvPr/>
        </p:nvSpPr>
        <p:spPr>
          <a:xfrm>
            <a:off x="285750" y="514350"/>
            <a:ext cx="8744100" cy="3429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lang="en" sz="2700">
                <a:solidFill>
                  <a:srgbClr val="1E293B"/>
                </a:solidFill>
                <a:latin typeface="Liter"/>
                <a:ea typeface="Liter"/>
                <a:cs typeface="Liter"/>
                <a:sym typeface="Liter"/>
              </a:rPr>
              <a:t>Stakeholder Analysis</a:t>
            </a:r>
            <a:endParaRPr b="0" i="0" sz="1200" u="none" cap="none" strike="noStrike"/>
          </a:p>
        </p:txBody>
      </p:sp>
      <p:sp>
        <p:nvSpPr>
          <p:cNvPr id="115" name="Google Shape;115;p21"/>
          <p:cNvSpPr/>
          <p:nvPr/>
        </p:nvSpPr>
        <p:spPr>
          <a:xfrm>
            <a:off x="285750" y="942975"/>
            <a:ext cx="571500" cy="28575"/>
          </a:xfrm>
          <a:custGeom>
            <a:rect b="b" l="l" r="r" t="t"/>
            <a:pathLst>
              <a:path extrusionOk="0" h="38100" w="762000">
                <a:moveTo>
                  <a:pt x="0" y="0"/>
                </a:moveTo>
                <a:lnTo>
                  <a:pt x="762000" y="0"/>
                </a:lnTo>
                <a:lnTo>
                  <a:pt x="762000" y="38100"/>
                </a:lnTo>
                <a:lnTo>
                  <a:pt x="0" y="38100"/>
                </a:lnTo>
                <a:lnTo>
                  <a:pt x="0" y="0"/>
                </a:lnTo>
                <a:close/>
              </a:path>
            </a:pathLst>
          </a:custGeom>
          <a:solidFill>
            <a:srgbClr val="2563EB"/>
          </a:solidFill>
          <a:ln>
            <a:noFill/>
          </a:ln>
        </p:spPr>
      </p:sp>
      <p:sp>
        <p:nvSpPr>
          <p:cNvPr id="116" name="Google Shape;116;p21"/>
          <p:cNvSpPr/>
          <p:nvPr/>
        </p:nvSpPr>
        <p:spPr>
          <a:xfrm>
            <a:off x="342759" y="1765326"/>
            <a:ext cx="1013400" cy="3099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 sz="1228" u="none" cap="none" strike="noStrike">
                <a:solidFill>
                  <a:srgbClr val="1E293B"/>
                </a:solidFill>
                <a:latin typeface="Liter"/>
                <a:ea typeface="Liter"/>
                <a:cs typeface="Liter"/>
                <a:sym typeface="Liter"/>
              </a:rPr>
              <a:t>QA Engineers</a:t>
            </a:r>
            <a:endParaRPr b="0" i="0" sz="1317" u="none" cap="none" strike="noStrike"/>
          </a:p>
        </p:txBody>
      </p:sp>
      <p:sp>
        <p:nvSpPr>
          <p:cNvPr id="117" name="Google Shape;117;p21"/>
          <p:cNvSpPr/>
          <p:nvPr/>
        </p:nvSpPr>
        <p:spPr>
          <a:xfrm>
            <a:off x="342750" y="2240525"/>
            <a:ext cx="2692500" cy="17733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en" sz="900">
                <a:solidFill>
                  <a:srgbClr val="2563EB"/>
                </a:solidFill>
                <a:latin typeface="Quattrocento Sans"/>
                <a:ea typeface="Quattrocento Sans"/>
                <a:cs typeface="Quattrocento Sans"/>
                <a:sym typeface="Quattrocento Sans"/>
              </a:rPr>
              <a:t>Role: </a:t>
            </a:r>
            <a:r>
              <a:rPr lang="en" sz="900">
                <a:solidFill>
                  <a:schemeClr val="dk1"/>
                </a:solidFill>
                <a:latin typeface="Quattrocento Sans"/>
                <a:ea typeface="Quattrocento Sans"/>
                <a:cs typeface="Quattrocento Sans"/>
                <a:sym typeface="Quattrocento Sans"/>
              </a:rPr>
              <a:t>Author natural language test cases, configure environments, and evaluate test runs.</a:t>
            </a:r>
            <a:endParaRPr sz="900">
              <a:solidFill>
                <a:schemeClr val="dk1"/>
              </a:solidFill>
              <a:latin typeface="Quattrocento Sans"/>
              <a:ea typeface="Quattrocento Sans"/>
              <a:cs typeface="Quattrocento Sans"/>
              <a:sym typeface="Quattrocento Sans"/>
            </a:endParaRPr>
          </a:p>
          <a:p>
            <a:pPr indent="0" lvl="0" marL="0" marR="0" rtl="0" algn="l">
              <a:lnSpc>
                <a:spcPct val="150000"/>
              </a:lnSpc>
              <a:spcBef>
                <a:spcPts val="1000"/>
              </a:spcBef>
              <a:spcAft>
                <a:spcPts val="0"/>
              </a:spcAft>
              <a:buNone/>
            </a:pPr>
            <a:r>
              <a:rPr b="1" lang="en" sz="900">
                <a:solidFill>
                  <a:srgbClr val="2563EB"/>
                </a:solidFill>
                <a:latin typeface="Quattrocento Sans"/>
                <a:ea typeface="Quattrocento Sans"/>
                <a:cs typeface="Quattrocento Sans"/>
                <a:sym typeface="Quattrocento Sans"/>
              </a:rPr>
              <a:t>Expectation: </a:t>
            </a:r>
            <a:r>
              <a:rPr lang="en" sz="900">
                <a:solidFill>
                  <a:schemeClr val="dk1"/>
                </a:solidFill>
                <a:latin typeface="Quattrocento Sans"/>
                <a:ea typeface="Quattrocento Sans"/>
                <a:cs typeface="Quattrocento Sans"/>
                <a:sym typeface="Quattrocento Sans"/>
              </a:rPr>
              <a:t>Reliable execution with zero manual locator maintenance during UI changes.</a:t>
            </a:r>
            <a:endParaRPr sz="900">
              <a:solidFill>
                <a:schemeClr val="dk1"/>
              </a:solidFill>
              <a:latin typeface="Quattrocento Sans"/>
              <a:ea typeface="Quattrocento Sans"/>
              <a:cs typeface="Quattrocento Sans"/>
              <a:sym typeface="Quattrocento Sans"/>
            </a:endParaRPr>
          </a:p>
          <a:p>
            <a:pPr indent="0" lvl="0" marL="0" marR="0" rtl="0" algn="l">
              <a:lnSpc>
                <a:spcPct val="150000"/>
              </a:lnSpc>
              <a:spcBef>
                <a:spcPts val="1000"/>
              </a:spcBef>
              <a:spcAft>
                <a:spcPts val="1000"/>
              </a:spcAft>
              <a:buNone/>
            </a:pPr>
            <a:r>
              <a:rPr b="1" lang="en" sz="900">
                <a:solidFill>
                  <a:srgbClr val="2563EB"/>
                </a:solidFill>
                <a:latin typeface="Quattrocento Sans"/>
                <a:ea typeface="Quattrocento Sans"/>
                <a:cs typeface="Quattrocento Sans"/>
                <a:sym typeface="Quattrocento Sans"/>
              </a:rPr>
              <a:t>Key Requirement:</a:t>
            </a:r>
            <a:r>
              <a:rPr lang="en" sz="900">
                <a:solidFill>
                  <a:schemeClr val="dk1"/>
                </a:solidFill>
                <a:latin typeface="Quattrocento Sans"/>
                <a:ea typeface="Quattrocento Sans"/>
                <a:cs typeface="Quattrocento Sans"/>
                <a:sym typeface="Quattrocento Sans"/>
              </a:rPr>
              <a:t> Structured step-by-step traces, execution logs, and annotated screenshots to easily distinguish actual application bugs from agent errors.</a:t>
            </a:r>
            <a:endParaRPr sz="900">
              <a:solidFill>
                <a:schemeClr val="dk1"/>
              </a:solidFill>
              <a:latin typeface="Quattrocento Sans"/>
              <a:ea typeface="Quattrocento Sans"/>
              <a:cs typeface="Quattrocento Sans"/>
              <a:sym typeface="Quattrocento Sans"/>
            </a:endParaRPr>
          </a:p>
        </p:txBody>
      </p:sp>
      <p:sp>
        <p:nvSpPr>
          <p:cNvPr id="118" name="Google Shape;118;p21"/>
          <p:cNvSpPr/>
          <p:nvPr/>
        </p:nvSpPr>
        <p:spPr>
          <a:xfrm>
            <a:off x="3311546" y="1765325"/>
            <a:ext cx="1457400" cy="3099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 sz="1228">
                <a:solidFill>
                  <a:srgbClr val="1E293B"/>
                </a:solidFill>
                <a:latin typeface="Liter"/>
                <a:ea typeface="Liter"/>
                <a:cs typeface="Liter"/>
                <a:sym typeface="Liter"/>
              </a:rPr>
              <a:t>Software Developers</a:t>
            </a:r>
            <a:endParaRPr b="0" i="0" sz="1317" u="none" cap="none" strike="noStrike"/>
          </a:p>
        </p:txBody>
      </p:sp>
      <p:sp>
        <p:nvSpPr>
          <p:cNvPr id="119" name="Google Shape;119;p21"/>
          <p:cNvSpPr/>
          <p:nvPr/>
        </p:nvSpPr>
        <p:spPr>
          <a:xfrm>
            <a:off x="3311550" y="2240525"/>
            <a:ext cx="2692500" cy="17733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en" sz="900">
                <a:solidFill>
                  <a:srgbClr val="2563EB"/>
                </a:solidFill>
                <a:latin typeface="Quattrocento Sans"/>
                <a:ea typeface="Quattrocento Sans"/>
                <a:cs typeface="Quattrocento Sans"/>
                <a:sym typeface="Quattrocento Sans"/>
              </a:rPr>
              <a:t>Role: </a:t>
            </a:r>
            <a:r>
              <a:rPr lang="en" sz="900">
                <a:solidFill>
                  <a:schemeClr val="dk1"/>
                </a:solidFill>
                <a:latin typeface="Quattrocento Sans"/>
                <a:ea typeface="Quattrocento Sans"/>
                <a:cs typeface="Quattrocento Sans"/>
                <a:sym typeface="Quattrocento Sans"/>
              </a:rPr>
              <a:t>Leverage test reports to rapidly reproduce, isolate, and fix codebase defects.</a:t>
            </a:r>
            <a:endParaRPr sz="900">
              <a:solidFill>
                <a:schemeClr val="dk1"/>
              </a:solidFill>
              <a:latin typeface="Quattrocento Sans"/>
              <a:ea typeface="Quattrocento Sans"/>
              <a:cs typeface="Quattrocento Sans"/>
              <a:sym typeface="Quattrocento Sans"/>
            </a:endParaRPr>
          </a:p>
          <a:p>
            <a:pPr indent="0" lvl="0" marL="0" marR="0" rtl="0" algn="l">
              <a:lnSpc>
                <a:spcPct val="150000"/>
              </a:lnSpc>
              <a:spcBef>
                <a:spcPts val="1000"/>
              </a:spcBef>
              <a:spcAft>
                <a:spcPts val="0"/>
              </a:spcAft>
              <a:buNone/>
            </a:pPr>
            <a:r>
              <a:rPr b="1" lang="en" sz="900">
                <a:solidFill>
                  <a:srgbClr val="2563EB"/>
                </a:solidFill>
                <a:latin typeface="Quattrocento Sans"/>
                <a:ea typeface="Quattrocento Sans"/>
                <a:cs typeface="Quattrocento Sans"/>
                <a:sym typeface="Quattrocento Sans"/>
              </a:rPr>
              <a:t>Expectation: </a:t>
            </a:r>
            <a:r>
              <a:rPr lang="en" sz="900">
                <a:solidFill>
                  <a:schemeClr val="dk1"/>
                </a:solidFill>
                <a:latin typeface="Quattrocento Sans"/>
                <a:ea typeface="Quattrocento Sans"/>
                <a:cs typeface="Quattrocento Sans"/>
                <a:sym typeface="Quattrocento Sans"/>
              </a:rPr>
              <a:t>High resilience against minor HTML refactoring, eliminating false alarm test failures.</a:t>
            </a:r>
            <a:endParaRPr sz="900">
              <a:solidFill>
                <a:schemeClr val="dk1"/>
              </a:solidFill>
              <a:latin typeface="Quattrocento Sans"/>
              <a:ea typeface="Quattrocento Sans"/>
              <a:cs typeface="Quattrocento Sans"/>
              <a:sym typeface="Quattrocento Sans"/>
            </a:endParaRPr>
          </a:p>
          <a:p>
            <a:pPr indent="0" lvl="0" marL="0" marR="0" rtl="0" algn="l">
              <a:lnSpc>
                <a:spcPct val="150000"/>
              </a:lnSpc>
              <a:spcBef>
                <a:spcPts val="1000"/>
              </a:spcBef>
              <a:spcAft>
                <a:spcPts val="1000"/>
              </a:spcAft>
              <a:buNone/>
            </a:pPr>
            <a:r>
              <a:rPr b="1" lang="en" sz="900">
                <a:solidFill>
                  <a:srgbClr val="2563EB"/>
                </a:solidFill>
                <a:latin typeface="Quattrocento Sans"/>
                <a:ea typeface="Quattrocento Sans"/>
                <a:cs typeface="Quattrocento Sans"/>
                <a:sym typeface="Quattrocento Sans"/>
              </a:rPr>
              <a:t>Key Requirement:</a:t>
            </a:r>
            <a:r>
              <a:rPr lang="en" sz="900">
                <a:solidFill>
                  <a:schemeClr val="dk1"/>
                </a:solidFill>
                <a:latin typeface="Quattrocento Sans"/>
                <a:ea typeface="Quattrocento Sans"/>
                <a:cs typeface="Quattrocento Sans"/>
                <a:sym typeface="Quattrocento Sans"/>
              </a:rPr>
              <a:t> </a:t>
            </a:r>
            <a:r>
              <a:rPr lang="en" sz="900">
                <a:solidFill>
                  <a:schemeClr val="dk1"/>
                </a:solidFill>
                <a:latin typeface="Quattrocento Sans"/>
                <a:ea typeface="Quattrocento Sans"/>
                <a:cs typeface="Quattrocento Sans"/>
                <a:sym typeface="Quattrocento Sans"/>
              </a:rPr>
              <a:t>Granular debug data on failure, including the exact step, attempted action, and DOM state at the moment of failure.</a:t>
            </a:r>
            <a:endParaRPr sz="900">
              <a:solidFill>
                <a:schemeClr val="dk1"/>
              </a:solidFill>
              <a:latin typeface="Quattrocento Sans"/>
              <a:ea typeface="Quattrocento Sans"/>
              <a:cs typeface="Quattrocento Sans"/>
              <a:sym typeface="Quattrocento Sans"/>
            </a:endParaRPr>
          </a:p>
        </p:txBody>
      </p:sp>
      <p:sp>
        <p:nvSpPr>
          <p:cNvPr id="120" name="Google Shape;120;p21"/>
          <p:cNvSpPr/>
          <p:nvPr/>
        </p:nvSpPr>
        <p:spPr>
          <a:xfrm>
            <a:off x="6280351" y="1765325"/>
            <a:ext cx="1998900" cy="3099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 sz="1228">
                <a:solidFill>
                  <a:srgbClr val="1E293B"/>
                </a:solidFill>
                <a:latin typeface="Liter"/>
                <a:ea typeface="Liter"/>
                <a:cs typeface="Liter"/>
                <a:sym typeface="Liter"/>
              </a:rPr>
              <a:t>Product Managers &amp; BAs</a:t>
            </a:r>
            <a:endParaRPr b="0" i="0" sz="1317" u="none" cap="none" strike="noStrike"/>
          </a:p>
        </p:txBody>
      </p:sp>
      <p:sp>
        <p:nvSpPr>
          <p:cNvPr id="121" name="Google Shape;121;p21"/>
          <p:cNvSpPr/>
          <p:nvPr/>
        </p:nvSpPr>
        <p:spPr>
          <a:xfrm>
            <a:off x="6280350" y="2240525"/>
            <a:ext cx="2692500" cy="19389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en" sz="900">
                <a:solidFill>
                  <a:srgbClr val="2563EB"/>
                </a:solidFill>
                <a:latin typeface="Quattrocento Sans"/>
                <a:ea typeface="Quattrocento Sans"/>
                <a:cs typeface="Quattrocento Sans"/>
                <a:sym typeface="Quattrocento Sans"/>
              </a:rPr>
              <a:t>Role: </a:t>
            </a:r>
            <a:r>
              <a:rPr lang="en" sz="900">
                <a:solidFill>
                  <a:schemeClr val="dk1"/>
                </a:solidFill>
                <a:latin typeface="Quattrocento Sans"/>
                <a:ea typeface="Quattrocento Sans"/>
                <a:cs typeface="Quattrocento Sans"/>
                <a:sym typeface="Quattrocento Sans"/>
              </a:rPr>
              <a:t>Define product features, requirements, and user acceptance criteria.</a:t>
            </a:r>
            <a:endParaRPr sz="900">
              <a:solidFill>
                <a:schemeClr val="dk1"/>
              </a:solidFill>
              <a:latin typeface="Quattrocento Sans"/>
              <a:ea typeface="Quattrocento Sans"/>
              <a:cs typeface="Quattrocento Sans"/>
              <a:sym typeface="Quattrocento Sans"/>
            </a:endParaRPr>
          </a:p>
          <a:p>
            <a:pPr indent="0" lvl="0" marL="0" marR="0" rtl="0" algn="l">
              <a:lnSpc>
                <a:spcPct val="150000"/>
              </a:lnSpc>
              <a:spcBef>
                <a:spcPts val="1000"/>
              </a:spcBef>
              <a:spcAft>
                <a:spcPts val="0"/>
              </a:spcAft>
              <a:buNone/>
            </a:pPr>
            <a:r>
              <a:rPr b="1" lang="en" sz="900">
                <a:solidFill>
                  <a:srgbClr val="2563EB"/>
                </a:solidFill>
                <a:latin typeface="Quattrocento Sans"/>
                <a:ea typeface="Quattrocento Sans"/>
                <a:cs typeface="Quattrocento Sans"/>
                <a:sym typeface="Quattrocento Sans"/>
              </a:rPr>
              <a:t>Expectation: </a:t>
            </a:r>
            <a:r>
              <a:rPr lang="en" sz="900">
                <a:solidFill>
                  <a:schemeClr val="dk1"/>
                </a:solidFill>
                <a:latin typeface="Quattrocento Sans"/>
                <a:ea typeface="Quattrocento Sans"/>
                <a:cs typeface="Quattrocento Sans"/>
                <a:sym typeface="Quattrocento Sans"/>
              </a:rPr>
              <a:t>Write and audit test scenarios directly in plain text without writing code or identifying CSS/XPath selectors.</a:t>
            </a:r>
            <a:endParaRPr sz="900">
              <a:solidFill>
                <a:schemeClr val="dk1"/>
              </a:solidFill>
              <a:latin typeface="Quattrocento Sans"/>
              <a:ea typeface="Quattrocento Sans"/>
              <a:cs typeface="Quattrocento Sans"/>
              <a:sym typeface="Quattrocento Sans"/>
            </a:endParaRPr>
          </a:p>
          <a:p>
            <a:pPr indent="0" lvl="0" marL="0" marR="0" rtl="0" algn="l">
              <a:lnSpc>
                <a:spcPct val="150000"/>
              </a:lnSpc>
              <a:spcBef>
                <a:spcPts val="1000"/>
              </a:spcBef>
              <a:spcAft>
                <a:spcPts val="1000"/>
              </a:spcAft>
              <a:buNone/>
            </a:pPr>
            <a:r>
              <a:rPr b="1" lang="en" sz="900">
                <a:solidFill>
                  <a:srgbClr val="2563EB"/>
                </a:solidFill>
                <a:latin typeface="Quattrocento Sans"/>
                <a:ea typeface="Quattrocento Sans"/>
                <a:cs typeface="Quattrocento Sans"/>
                <a:sym typeface="Quattrocento Sans"/>
              </a:rPr>
              <a:t>Key Requirement:</a:t>
            </a:r>
            <a:r>
              <a:rPr lang="en" sz="900">
                <a:solidFill>
                  <a:schemeClr val="dk1"/>
                </a:solidFill>
                <a:latin typeface="Quattrocento Sans"/>
                <a:ea typeface="Quattrocento Sans"/>
                <a:cs typeface="Quattrocento Sans"/>
                <a:sym typeface="Quattrocento Sans"/>
              </a:rPr>
              <a:t> </a:t>
            </a:r>
            <a:r>
              <a:rPr lang="en" sz="900">
                <a:solidFill>
                  <a:schemeClr val="dk1"/>
                </a:solidFill>
                <a:latin typeface="Quattrocento Sans"/>
                <a:ea typeface="Quattrocento Sans"/>
                <a:cs typeface="Quattrocento Sans"/>
                <a:sym typeface="Quattrocento Sans"/>
              </a:rPr>
              <a:t>Direct mapping of business requirements to test execution to accelerate final release validation.</a:t>
            </a:r>
            <a:endParaRPr sz="900">
              <a:solidFill>
                <a:schemeClr val="dk1"/>
              </a:solidFill>
              <a:latin typeface="Quattrocento Sans"/>
              <a:ea typeface="Quattrocento Sans"/>
              <a:cs typeface="Quattrocento Sans"/>
              <a:sym typeface="Quattrocento Sans"/>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26" name="Shape 126"/>
        <p:cNvGrpSpPr/>
        <p:nvPr/>
      </p:nvGrpSpPr>
      <p:grpSpPr>
        <a:xfrm>
          <a:off x="0" y="0"/>
          <a:ext cx="0" cy="0"/>
          <a:chOff x="0" y="0"/>
          <a:chExt cx="0" cy="0"/>
        </a:xfrm>
      </p:grpSpPr>
      <p:sp>
        <p:nvSpPr>
          <p:cNvPr id="127" name="Google Shape;127;p22"/>
          <p:cNvSpPr/>
          <p:nvPr/>
        </p:nvSpPr>
        <p:spPr>
          <a:xfrm>
            <a:off x="238125" y="428625"/>
            <a:ext cx="8810400" cy="2859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lang="en" sz="2300">
                <a:solidFill>
                  <a:srgbClr val="1E293B"/>
                </a:solidFill>
                <a:latin typeface="Liter"/>
                <a:ea typeface="Liter"/>
                <a:cs typeface="Liter"/>
                <a:sym typeface="Liter"/>
              </a:rPr>
              <a:t>Autonomous Web Agents: The Core Concept</a:t>
            </a:r>
            <a:endParaRPr b="0" i="0" sz="1200" u="none" cap="none" strike="noStrike"/>
          </a:p>
        </p:txBody>
      </p:sp>
      <p:sp>
        <p:nvSpPr>
          <p:cNvPr id="128" name="Google Shape;128;p22"/>
          <p:cNvSpPr/>
          <p:nvPr/>
        </p:nvSpPr>
        <p:spPr>
          <a:xfrm>
            <a:off x="238125" y="785813"/>
            <a:ext cx="476250" cy="23813"/>
          </a:xfrm>
          <a:custGeom>
            <a:rect b="b" l="l" r="r" t="t"/>
            <a:pathLst>
              <a:path extrusionOk="0" h="31750" w="635000">
                <a:moveTo>
                  <a:pt x="0" y="0"/>
                </a:moveTo>
                <a:lnTo>
                  <a:pt x="635000" y="0"/>
                </a:lnTo>
                <a:lnTo>
                  <a:pt x="635000" y="31750"/>
                </a:lnTo>
                <a:lnTo>
                  <a:pt x="0" y="31750"/>
                </a:lnTo>
                <a:lnTo>
                  <a:pt x="0" y="0"/>
                </a:lnTo>
                <a:close/>
              </a:path>
            </a:pathLst>
          </a:custGeom>
          <a:solidFill>
            <a:srgbClr val="2563EB"/>
          </a:solidFill>
          <a:ln>
            <a:noFill/>
          </a:ln>
        </p:spPr>
      </p:sp>
      <p:sp>
        <p:nvSpPr>
          <p:cNvPr id="129" name="Google Shape;129;p22"/>
          <p:cNvSpPr/>
          <p:nvPr/>
        </p:nvSpPr>
        <p:spPr>
          <a:xfrm>
            <a:off x="238125" y="1012025"/>
            <a:ext cx="3023400" cy="1905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 sz="1100">
                <a:solidFill>
                  <a:srgbClr val="1E293B"/>
                </a:solidFill>
                <a:latin typeface="Liter"/>
                <a:ea typeface="Liter"/>
                <a:cs typeface="Liter"/>
                <a:sym typeface="Liter"/>
              </a:rPr>
              <a:t>What is an Autonomous Agent?</a:t>
            </a:r>
            <a:endParaRPr b="0" i="0" sz="1200" u="none" cap="none" strike="noStrike"/>
          </a:p>
        </p:txBody>
      </p:sp>
      <p:sp>
        <p:nvSpPr>
          <p:cNvPr id="130" name="Google Shape;130;p22"/>
          <p:cNvSpPr/>
          <p:nvPr/>
        </p:nvSpPr>
        <p:spPr>
          <a:xfrm>
            <a:off x="238125" y="1297775"/>
            <a:ext cx="3771000" cy="616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900">
                <a:solidFill>
                  <a:srgbClr val="1E293B"/>
                </a:solidFill>
                <a:latin typeface="Quattrocento Sans"/>
                <a:ea typeface="Quattrocento Sans"/>
                <a:cs typeface="Quattrocento Sans"/>
                <a:sym typeface="Quattrocento Sans"/>
              </a:rPr>
              <a:t>An AI-driven system that perceives a digital environment (through visuals, code, or structure), makes decisions, executes actions (like a human user), and iterates based on feedback to achieve a goal.</a:t>
            </a:r>
            <a:endParaRPr b="0" i="0" sz="1300" u="none" cap="none" strike="noStrike"/>
          </a:p>
        </p:txBody>
      </p:sp>
      <p:sp>
        <p:nvSpPr>
          <p:cNvPr id="131" name="Google Shape;131;p22"/>
          <p:cNvSpPr/>
          <p:nvPr/>
        </p:nvSpPr>
        <p:spPr>
          <a:xfrm>
            <a:off x="238124" y="2044675"/>
            <a:ext cx="1437600" cy="1668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 sz="800">
                <a:solidFill>
                  <a:srgbClr val="1E293B"/>
                </a:solidFill>
                <a:latin typeface="Liter"/>
                <a:ea typeface="Liter"/>
                <a:cs typeface="Liter"/>
                <a:sym typeface="Liter"/>
              </a:rPr>
              <a:t>Key Capabilities of Web Agents:</a:t>
            </a:r>
            <a:endParaRPr b="1" i="0" sz="1200" u="none" cap="none" strike="noStrike"/>
          </a:p>
        </p:txBody>
      </p:sp>
      <p:sp>
        <p:nvSpPr>
          <p:cNvPr id="132" name="Google Shape;132;p22"/>
          <p:cNvSpPr/>
          <p:nvPr/>
        </p:nvSpPr>
        <p:spPr>
          <a:xfrm>
            <a:off x="318675" y="2245125"/>
            <a:ext cx="3229500" cy="244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800">
                <a:solidFill>
                  <a:schemeClr val="dk2"/>
                </a:solidFill>
                <a:latin typeface="Quattrocento Sans"/>
                <a:ea typeface="Quattrocento Sans"/>
                <a:cs typeface="Quattrocento Sans"/>
                <a:sym typeface="Quattrocento Sans"/>
              </a:rPr>
              <a:t>Observe: Perceive the page state using screenshots and DOM data.</a:t>
            </a:r>
            <a:endParaRPr b="0" i="0" sz="1200" u="none" cap="none" strike="noStrike">
              <a:solidFill>
                <a:schemeClr val="dk2"/>
              </a:solidFill>
            </a:endParaRPr>
          </a:p>
        </p:txBody>
      </p:sp>
      <p:sp>
        <p:nvSpPr>
          <p:cNvPr id="133" name="Google Shape;133;p22"/>
          <p:cNvSpPr/>
          <p:nvPr/>
        </p:nvSpPr>
        <p:spPr>
          <a:xfrm>
            <a:off x="318675" y="2497525"/>
            <a:ext cx="3609900" cy="244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800">
                <a:solidFill>
                  <a:schemeClr val="dk2"/>
                </a:solidFill>
                <a:latin typeface="Quattrocento Sans"/>
                <a:ea typeface="Quattrocento Sans"/>
                <a:cs typeface="Quattrocento Sans"/>
                <a:sym typeface="Quattrocento Sans"/>
              </a:rPr>
              <a:t>Reason: Plan the next action based on the current observation and the objective.</a:t>
            </a:r>
            <a:endParaRPr b="0" i="0" sz="1200" u="none" cap="none" strike="noStrike">
              <a:solidFill>
                <a:schemeClr val="dk2"/>
              </a:solidFill>
            </a:endParaRPr>
          </a:p>
        </p:txBody>
      </p:sp>
      <p:sp>
        <p:nvSpPr>
          <p:cNvPr id="134" name="Google Shape;134;p22"/>
          <p:cNvSpPr/>
          <p:nvPr/>
        </p:nvSpPr>
        <p:spPr>
          <a:xfrm>
            <a:off x="318675" y="2749925"/>
            <a:ext cx="3255300" cy="244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800">
                <a:solidFill>
                  <a:schemeClr val="dk2"/>
                </a:solidFill>
                <a:latin typeface="Quattrocento Sans"/>
                <a:ea typeface="Quattrocento Sans"/>
                <a:cs typeface="Quattrocento Sans"/>
                <a:sym typeface="Quattrocento Sans"/>
              </a:rPr>
              <a:t>Act: Execute the action via browser automation tools (clicks, typing).</a:t>
            </a:r>
            <a:endParaRPr b="0" i="0" sz="1200" u="none" cap="none" strike="noStrike">
              <a:solidFill>
                <a:schemeClr val="dk2"/>
              </a:solidFill>
            </a:endParaRPr>
          </a:p>
        </p:txBody>
      </p:sp>
      <p:sp>
        <p:nvSpPr>
          <p:cNvPr id="135" name="Google Shape;135;p22"/>
          <p:cNvSpPr/>
          <p:nvPr/>
        </p:nvSpPr>
        <p:spPr>
          <a:xfrm>
            <a:off x="318675" y="3002325"/>
            <a:ext cx="3255300" cy="244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800">
                <a:solidFill>
                  <a:schemeClr val="dk2"/>
                </a:solidFill>
                <a:latin typeface="Quattrocento Sans"/>
                <a:ea typeface="Quattrocento Sans"/>
                <a:cs typeface="Quattrocento Sans"/>
                <a:sym typeface="Quattrocento Sans"/>
              </a:rPr>
              <a:t>Adapt: Handle errors and recover from transient failures.</a:t>
            </a:r>
            <a:endParaRPr b="0" i="0" sz="1200" u="none" cap="none" strike="noStrike">
              <a:solidFill>
                <a:schemeClr val="dk2"/>
              </a:solidFill>
            </a:endParaRPr>
          </a:p>
        </p:txBody>
      </p:sp>
      <p:sp>
        <p:nvSpPr>
          <p:cNvPr id="136" name="Google Shape;136;p22"/>
          <p:cNvSpPr/>
          <p:nvPr/>
        </p:nvSpPr>
        <p:spPr>
          <a:xfrm>
            <a:off x="238125" y="3603400"/>
            <a:ext cx="3543900" cy="616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1" lang="en" sz="900">
                <a:solidFill>
                  <a:srgbClr val="2563EB"/>
                </a:solidFill>
                <a:latin typeface="Quattrocento Sans"/>
                <a:ea typeface="Quattrocento Sans"/>
                <a:cs typeface="Quattrocento Sans"/>
                <a:sym typeface="Quattrocento Sans"/>
              </a:rPr>
              <a:t>Note</a:t>
            </a:r>
            <a:r>
              <a:rPr b="1" i="0" lang="en" sz="900" u="none" cap="none" strike="noStrike">
                <a:solidFill>
                  <a:srgbClr val="2563EB"/>
                </a:solidFill>
                <a:latin typeface="Quattrocento Sans"/>
                <a:ea typeface="Quattrocento Sans"/>
                <a:cs typeface="Quattrocento Sans"/>
                <a:sym typeface="Quattrocento Sans"/>
              </a:rPr>
              <a:t>:</a:t>
            </a:r>
            <a:r>
              <a:rPr b="0" i="0" lang="en" sz="900" u="none" cap="none" strike="noStrike">
                <a:solidFill>
                  <a:srgbClr val="1E293B"/>
                </a:solidFill>
                <a:latin typeface="Quattrocento Sans"/>
                <a:ea typeface="Quattrocento Sans"/>
                <a:cs typeface="Quattrocento Sans"/>
                <a:sym typeface="Quattrocento Sans"/>
              </a:rPr>
              <a:t> </a:t>
            </a:r>
            <a:r>
              <a:rPr lang="en" sz="900">
                <a:solidFill>
                  <a:srgbClr val="1E293B"/>
                </a:solidFill>
                <a:latin typeface="Quattrocento Sans"/>
                <a:ea typeface="Quattrocento Sans"/>
                <a:cs typeface="Quattrocento Sans"/>
                <a:sym typeface="Quattrocento Sans"/>
              </a:rPr>
              <a:t>Generalist agents (like those for booking flights) are open-ended. Web testing agents are different, they must follow strict, sequential steps and validate explicit intermediate assertions.</a:t>
            </a:r>
            <a:endParaRPr b="0" i="0" sz="900" u="none" cap="none" strike="noStrike"/>
          </a:p>
        </p:txBody>
      </p:sp>
      <p:sp>
        <p:nvSpPr>
          <p:cNvPr id="137" name="Google Shape;137;p22"/>
          <p:cNvSpPr/>
          <p:nvPr/>
        </p:nvSpPr>
        <p:spPr>
          <a:xfrm>
            <a:off x="4572000" y="1012025"/>
            <a:ext cx="3023400" cy="1905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 sz="1100">
                <a:solidFill>
                  <a:srgbClr val="1E293B"/>
                </a:solidFill>
                <a:latin typeface="Liter"/>
                <a:ea typeface="Liter"/>
                <a:cs typeface="Liter"/>
                <a:sym typeface="Liter"/>
              </a:rPr>
              <a:t>TestPilot</a:t>
            </a:r>
            <a:endParaRPr b="0" i="0" sz="1200" u="none" cap="none" strike="noStrike"/>
          </a:p>
        </p:txBody>
      </p:sp>
      <p:sp>
        <p:nvSpPr>
          <p:cNvPr id="138" name="Google Shape;138;p22"/>
          <p:cNvSpPr/>
          <p:nvPr/>
        </p:nvSpPr>
        <p:spPr>
          <a:xfrm>
            <a:off x="4572000" y="1297775"/>
            <a:ext cx="3771000" cy="421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900">
                <a:solidFill>
                  <a:srgbClr val="1E293B"/>
                </a:solidFill>
                <a:latin typeface="Quattrocento Sans"/>
                <a:ea typeface="Quattrocento Sans"/>
                <a:cs typeface="Quattrocento Sans"/>
                <a:sym typeface="Quattrocento Sans"/>
              </a:rPr>
              <a:t>TestPilot is an Autonomous Web Testing Agent designed specifically to execute end-to-end acceptance tests written in natural language.</a:t>
            </a:r>
            <a:endParaRPr b="0" i="0" sz="1300" u="none" cap="none" strike="noStrike"/>
          </a:p>
        </p:txBody>
      </p:sp>
      <p:sp>
        <p:nvSpPr>
          <p:cNvPr id="139" name="Google Shape;139;p22"/>
          <p:cNvSpPr/>
          <p:nvPr/>
        </p:nvSpPr>
        <p:spPr>
          <a:xfrm>
            <a:off x="4532900" y="3603400"/>
            <a:ext cx="4424700" cy="8427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1" lang="en" sz="900">
                <a:solidFill>
                  <a:srgbClr val="2563EB"/>
                </a:solidFill>
                <a:latin typeface="Quattrocento Sans"/>
                <a:ea typeface="Quattrocento Sans"/>
                <a:cs typeface="Quattrocento Sans"/>
                <a:sym typeface="Quattrocento Sans"/>
              </a:rPr>
              <a:t>Definition: </a:t>
            </a:r>
            <a:r>
              <a:rPr lang="en" sz="900">
                <a:solidFill>
                  <a:srgbClr val="1E293B"/>
                </a:solidFill>
                <a:latin typeface="Quattrocento Sans"/>
                <a:ea typeface="Quattrocento Sans"/>
                <a:cs typeface="Quattrocento Sans"/>
                <a:sym typeface="Quattrocento Sans"/>
              </a:rPr>
              <a:t>Acceptance testing in web development is the final phase of software testing where a website or web application is evaluated to determine if it meets predefined business requirements, user specifications, and acceptance criteria before being deployed to production.</a:t>
            </a:r>
            <a:endParaRPr b="0" i="0" sz="1300" u="none" cap="none" strike="noStrike"/>
          </a:p>
        </p:txBody>
      </p:sp>
      <p:sp>
        <p:nvSpPr>
          <p:cNvPr id="140" name="Google Shape;140;p22"/>
          <p:cNvSpPr/>
          <p:nvPr/>
        </p:nvSpPr>
        <p:spPr>
          <a:xfrm>
            <a:off x="4572000" y="1780425"/>
            <a:ext cx="900300" cy="1668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 sz="800">
                <a:solidFill>
                  <a:srgbClr val="1E293B"/>
                </a:solidFill>
                <a:latin typeface="Liter"/>
                <a:ea typeface="Liter"/>
                <a:cs typeface="Liter"/>
                <a:sym typeface="Liter"/>
              </a:rPr>
              <a:t>Components</a:t>
            </a:r>
            <a:endParaRPr b="1" i="0" sz="1200" u="none" cap="none" strike="noStrike"/>
          </a:p>
        </p:txBody>
      </p:sp>
      <p:sp>
        <p:nvSpPr>
          <p:cNvPr id="141" name="Google Shape;141;p22"/>
          <p:cNvSpPr/>
          <p:nvPr/>
        </p:nvSpPr>
        <p:spPr>
          <a:xfrm>
            <a:off x="4673525" y="2008375"/>
            <a:ext cx="4137600" cy="3120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800">
                <a:solidFill>
                  <a:schemeClr val="dk2"/>
                </a:solidFill>
                <a:latin typeface="Quattrocento Sans"/>
                <a:ea typeface="Quattrocento Sans"/>
                <a:cs typeface="Quattrocento Sans"/>
                <a:sym typeface="Quattrocento Sans"/>
              </a:rPr>
              <a:t>Multimodal LLM: Uses a Large Language Model to </a:t>
            </a:r>
            <a:r>
              <a:rPr lang="en" sz="900">
                <a:solidFill>
                  <a:srgbClr val="1E293B"/>
                </a:solidFill>
                <a:latin typeface="Quattrocento Sans"/>
                <a:ea typeface="Quattrocento Sans"/>
                <a:cs typeface="Quattrocento Sans"/>
                <a:sym typeface="Quattrocento Sans"/>
              </a:rPr>
              <a:t>p</a:t>
            </a:r>
            <a:r>
              <a:rPr lang="en" sz="900">
                <a:solidFill>
                  <a:srgbClr val="1E293B"/>
                </a:solidFill>
                <a:latin typeface="Quattrocento Sans"/>
                <a:ea typeface="Quattrocento Sans"/>
                <a:cs typeface="Quattrocento Sans"/>
                <a:sym typeface="Quattrocento Sans"/>
              </a:rPr>
              <a:t>erceive</a:t>
            </a:r>
            <a:r>
              <a:rPr lang="en" sz="800">
                <a:solidFill>
                  <a:schemeClr val="dk2"/>
                </a:solidFill>
                <a:latin typeface="Quattrocento Sans"/>
                <a:ea typeface="Quattrocento Sans"/>
                <a:cs typeface="Quattrocento Sans"/>
                <a:sym typeface="Quattrocento Sans"/>
              </a:rPr>
              <a:t> and understand the page via annotated screenshots (</a:t>
            </a:r>
            <a:r>
              <a:rPr b="1" lang="en" sz="800">
                <a:solidFill>
                  <a:schemeClr val="dk2"/>
                </a:solidFill>
                <a:latin typeface="Quattrocento Sans"/>
                <a:ea typeface="Quattrocento Sans"/>
                <a:cs typeface="Quattrocento Sans"/>
                <a:sym typeface="Quattrocento Sans"/>
              </a:rPr>
              <a:t>Set-of-Marks visual prompting</a:t>
            </a:r>
            <a:r>
              <a:rPr lang="en" sz="800">
                <a:solidFill>
                  <a:schemeClr val="dk2"/>
                </a:solidFill>
                <a:latin typeface="Quattrocento Sans"/>
                <a:ea typeface="Quattrocento Sans"/>
                <a:cs typeface="Quattrocento Sans"/>
                <a:sym typeface="Quattrocento Sans"/>
              </a:rPr>
              <a:t>) and structural accessibility trees.</a:t>
            </a:r>
            <a:endParaRPr b="0" i="0" sz="1200" u="none" cap="none" strike="noStrike">
              <a:solidFill>
                <a:schemeClr val="dk2"/>
              </a:solidFill>
            </a:endParaRPr>
          </a:p>
        </p:txBody>
      </p:sp>
      <p:sp>
        <p:nvSpPr>
          <p:cNvPr id="142" name="Google Shape;142;p22"/>
          <p:cNvSpPr/>
          <p:nvPr/>
        </p:nvSpPr>
        <p:spPr>
          <a:xfrm>
            <a:off x="4673525" y="2476438"/>
            <a:ext cx="3976200" cy="3120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800">
                <a:solidFill>
                  <a:schemeClr val="dk2"/>
                </a:solidFill>
                <a:latin typeface="Quattrocento Sans"/>
                <a:ea typeface="Quattrocento Sans"/>
                <a:cs typeface="Quattrocento Sans"/>
                <a:sym typeface="Quattrocento Sans"/>
              </a:rPr>
              <a:t>State Machine (LangGraph): Orchestrates step execution, verification, and recovery to ensure no steps are skipped.</a:t>
            </a:r>
            <a:endParaRPr b="0" i="0" sz="1200" u="none" cap="none" strike="noStrike">
              <a:solidFill>
                <a:schemeClr val="dk2"/>
              </a:solidFill>
            </a:endParaRPr>
          </a:p>
        </p:txBody>
      </p:sp>
      <p:sp>
        <p:nvSpPr>
          <p:cNvPr id="143" name="Google Shape;143;p22"/>
          <p:cNvSpPr/>
          <p:nvPr/>
        </p:nvSpPr>
        <p:spPr>
          <a:xfrm>
            <a:off x="4673525" y="2944525"/>
            <a:ext cx="3879600" cy="244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800">
                <a:solidFill>
                  <a:schemeClr val="dk2"/>
                </a:solidFill>
                <a:latin typeface="Quattrocento Sans"/>
                <a:ea typeface="Quattrocento Sans"/>
                <a:cs typeface="Quattrocento Sans"/>
                <a:sym typeface="Quattrocento Sans"/>
              </a:rPr>
              <a:t>Playwright Driver: A headless Chromium browser executes the actual interactions.</a:t>
            </a:r>
            <a:endParaRPr b="0" i="0" sz="1200" u="none" cap="none" strike="noStrike">
              <a:solidFill>
                <a:schemeClr val="dk2"/>
              </a:solidFill>
            </a:endParaRPr>
          </a:p>
        </p:txBody>
      </p:sp>
      <p:sp>
        <p:nvSpPr>
          <p:cNvPr id="144" name="Google Shape;144;p22"/>
          <p:cNvSpPr/>
          <p:nvPr/>
        </p:nvSpPr>
        <p:spPr>
          <a:xfrm>
            <a:off x="4443950" y="3515163"/>
            <a:ext cx="4596741" cy="1059656"/>
          </a:xfrm>
          <a:custGeom>
            <a:rect b="b" l="l" r="r" t="t"/>
            <a:pathLst>
              <a:path extrusionOk="0" h="952500" w="11420475">
                <a:moveTo>
                  <a:pt x="114300" y="0"/>
                </a:moveTo>
                <a:lnTo>
                  <a:pt x="11306175" y="0"/>
                </a:lnTo>
                <a:cubicBezTo>
                  <a:pt x="11369259" y="0"/>
                  <a:pt x="11420475" y="51216"/>
                  <a:pt x="11420475" y="114300"/>
                </a:cubicBezTo>
                <a:lnTo>
                  <a:pt x="11420475" y="838200"/>
                </a:lnTo>
                <a:cubicBezTo>
                  <a:pt x="11420475" y="901284"/>
                  <a:pt x="11369259" y="952500"/>
                  <a:pt x="11306175" y="952500"/>
                </a:cubicBezTo>
                <a:lnTo>
                  <a:pt x="114300" y="952500"/>
                </a:lnTo>
                <a:cubicBezTo>
                  <a:pt x="51216" y="952500"/>
                  <a:pt x="0" y="901284"/>
                  <a:pt x="0" y="838200"/>
                </a:cubicBezTo>
                <a:lnTo>
                  <a:pt x="0" y="114300"/>
                </a:lnTo>
                <a:cubicBezTo>
                  <a:pt x="0" y="51216"/>
                  <a:pt x="51216" y="0"/>
                  <a:pt x="114300" y="0"/>
                </a:cubicBezTo>
                <a:close/>
              </a:path>
            </a:pathLst>
          </a:custGeom>
          <a:solidFill>
            <a:srgbClr val="2563EB">
              <a:alpha val="4710"/>
            </a:srgbClr>
          </a:solidFill>
          <a:ln cap="flat" cmpd="sng" w="9525">
            <a:solidFill>
              <a:srgbClr val="2563EB">
                <a:alpha val="20000"/>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900"/>
          </a:p>
        </p:txBody>
      </p:sp>
      <p:sp>
        <p:nvSpPr>
          <p:cNvPr id="145" name="Google Shape;145;p22"/>
          <p:cNvSpPr/>
          <p:nvPr/>
        </p:nvSpPr>
        <p:spPr>
          <a:xfrm>
            <a:off x="318669" y="4721992"/>
            <a:ext cx="8336700" cy="421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1" lang="en" sz="800">
                <a:solidFill>
                  <a:srgbClr val="1E293B"/>
                </a:solidFill>
                <a:latin typeface="Quattrocento Sans"/>
                <a:ea typeface="Quattrocento Sans"/>
                <a:cs typeface="Quattrocento Sans"/>
                <a:sym typeface="Quattrocento Sans"/>
              </a:rPr>
              <a:t>This project builds upon the paradigms and frameworks introduced in "Are Autonomous Web Agents Good Testers?" (Chevrot et al., 2025; arXiv:2504.01495).[1]</a:t>
            </a:r>
            <a:endParaRPr b="1" i="0" sz="800" u="none" cap="none" strike="noStrike"/>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50" name="Shape 150"/>
        <p:cNvGrpSpPr/>
        <p:nvPr/>
      </p:nvGrpSpPr>
      <p:grpSpPr>
        <a:xfrm>
          <a:off x="0" y="0"/>
          <a:ext cx="0" cy="0"/>
          <a:chOff x="0" y="0"/>
          <a:chExt cx="0" cy="0"/>
        </a:xfrm>
      </p:grpSpPr>
      <p:sp>
        <p:nvSpPr>
          <p:cNvPr id="151" name="Google Shape;151;p23"/>
          <p:cNvSpPr/>
          <p:nvPr/>
        </p:nvSpPr>
        <p:spPr>
          <a:xfrm>
            <a:off x="238125" y="428625"/>
            <a:ext cx="8810400" cy="2859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lang="en" sz="2300">
                <a:solidFill>
                  <a:srgbClr val="1E293B"/>
                </a:solidFill>
                <a:latin typeface="Liter"/>
                <a:ea typeface="Liter"/>
                <a:cs typeface="Liter"/>
                <a:sym typeface="Liter"/>
              </a:rPr>
              <a:t>Visual Prompting via Set-of-Marks (SoM)</a:t>
            </a:r>
            <a:endParaRPr b="0" i="0" sz="1200" u="none" cap="none" strike="noStrike"/>
          </a:p>
        </p:txBody>
      </p:sp>
      <p:sp>
        <p:nvSpPr>
          <p:cNvPr id="152" name="Google Shape;152;p23"/>
          <p:cNvSpPr/>
          <p:nvPr/>
        </p:nvSpPr>
        <p:spPr>
          <a:xfrm>
            <a:off x="238125" y="785813"/>
            <a:ext cx="476250" cy="23813"/>
          </a:xfrm>
          <a:custGeom>
            <a:rect b="b" l="l" r="r" t="t"/>
            <a:pathLst>
              <a:path extrusionOk="0" h="31750" w="635000">
                <a:moveTo>
                  <a:pt x="0" y="0"/>
                </a:moveTo>
                <a:lnTo>
                  <a:pt x="635000" y="0"/>
                </a:lnTo>
                <a:lnTo>
                  <a:pt x="635000" y="31750"/>
                </a:lnTo>
                <a:lnTo>
                  <a:pt x="0" y="31750"/>
                </a:lnTo>
                <a:lnTo>
                  <a:pt x="0" y="0"/>
                </a:lnTo>
                <a:close/>
              </a:path>
            </a:pathLst>
          </a:custGeom>
          <a:solidFill>
            <a:srgbClr val="2563EB"/>
          </a:solidFill>
          <a:ln>
            <a:noFill/>
          </a:ln>
        </p:spPr>
      </p:sp>
      <p:pic>
        <p:nvPicPr>
          <p:cNvPr id="153" name="Google Shape;153;p23" title="presentation_img_som_screenshot_after.jpg"/>
          <p:cNvPicPr preferRelativeResize="0"/>
          <p:nvPr/>
        </p:nvPicPr>
        <p:blipFill>
          <a:blip r:embed="rId3">
            <a:alphaModFix/>
          </a:blip>
          <a:stretch>
            <a:fillRect/>
          </a:stretch>
        </p:blipFill>
        <p:spPr>
          <a:xfrm>
            <a:off x="2841524" y="1297775"/>
            <a:ext cx="6206998" cy="3491449"/>
          </a:xfrm>
          <a:prstGeom prst="rect">
            <a:avLst/>
          </a:prstGeom>
          <a:noFill/>
          <a:ln>
            <a:noFill/>
          </a:ln>
        </p:spPr>
      </p:pic>
      <p:sp>
        <p:nvSpPr>
          <p:cNvPr id="154" name="Google Shape;154;p23"/>
          <p:cNvSpPr/>
          <p:nvPr/>
        </p:nvSpPr>
        <p:spPr>
          <a:xfrm>
            <a:off x="79100" y="1170450"/>
            <a:ext cx="2625600" cy="37461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en" sz="900">
                <a:solidFill>
                  <a:srgbClr val="1E293B"/>
                </a:solidFill>
                <a:latin typeface="Quattrocento Sans"/>
                <a:ea typeface="Quattrocento Sans"/>
                <a:cs typeface="Quattrocento Sans"/>
                <a:sym typeface="Quattrocento Sans"/>
              </a:rPr>
              <a:t>Interactive Element Extraction:</a:t>
            </a:r>
            <a:r>
              <a:rPr lang="en" sz="900">
                <a:solidFill>
                  <a:srgbClr val="1E293B"/>
                </a:solidFill>
                <a:latin typeface="Quattrocento Sans"/>
                <a:ea typeface="Quattrocento Sans"/>
                <a:cs typeface="Quattrocento Sans"/>
                <a:sym typeface="Quattrocento Sans"/>
              </a:rPr>
              <a:t> Playwright dynamically parses the page's accessibility tree to isolate interactive components (links, buttons, inputs).</a:t>
            </a:r>
            <a:endParaRPr sz="900">
              <a:solidFill>
                <a:srgbClr val="1E293B"/>
              </a:solidFill>
              <a:latin typeface="Quattrocento Sans"/>
              <a:ea typeface="Quattrocento Sans"/>
              <a:cs typeface="Quattrocento Sans"/>
              <a:sym typeface="Quattrocento Sans"/>
            </a:endParaRPr>
          </a:p>
          <a:p>
            <a:pPr indent="0" lvl="0" marL="0" marR="0" rtl="0" algn="l">
              <a:lnSpc>
                <a:spcPct val="150000"/>
              </a:lnSpc>
              <a:spcBef>
                <a:spcPts val="1000"/>
              </a:spcBef>
              <a:spcAft>
                <a:spcPts val="0"/>
              </a:spcAft>
              <a:buNone/>
            </a:pPr>
            <a:r>
              <a:rPr b="1" lang="en" sz="900">
                <a:solidFill>
                  <a:srgbClr val="1E293B"/>
                </a:solidFill>
                <a:latin typeface="Quattrocento Sans"/>
                <a:ea typeface="Quattrocento Sans"/>
                <a:cs typeface="Quattrocento Sans"/>
                <a:sym typeface="Quattrocento Sans"/>
              </a:rPr>
              <a:t>Automatic Bounding &amp; Labeling:</a:t>
            </a:r>
            <a:r>
              <a:rPr lang="en" sz="900">
                <a:solidFill>
                  <a:srgbClr val="1E293B"/>
                </a:solidFill>
                <a:latin typeface="Quattrocento Sans"/>
                <a:ea typeface="Quattrocento Sans"/>
                <a:cs typeface="Quattrocento Sans"/>
                <a:sym typeface="Quattrocento Sans"/>
              </a:rPr>
              <a:t> Distinct bounding boxes and numeric identifiers (such as [18] for "Home" or [31] for "Volume I") are programmatically overlaid on the screenshot.</a:t>
            </a:r>
            <a:endParaRPr sz="900">
              <a:solidFill>
                <a:srgbClr val="1E293B"/>
              </a:solidFill>
              <a:latin typeface="Quattrocento Sans"/>
              <a:ea typeface="Quattrocento Sans"/>
              <a:cs typeface="Quattrocento Sans"/>
              <a:sym typeface="Quattrocento Sans"/>
            </a:endParaRPr>
          </a:p>
          <a:p>
            <a:pPr indent="0" lvl="0" marL="0" marR="0" rtl="0" algn="l">
              <a:lnSpc>
                <a:spcPct val="150000"/>
              </a:lnSpc>
              <a:spcBef>
                <a:spcPts val="1000"/>
              </a:spcBef>
              <a:spcAft>
                <a:spcPts val="0"/>
              </a:spcAft>
              <a:buNone/>
            </a:pPr>
            <a:r>
              <a:rPr b="1" lang="en" sz="900">
                <a:solidFill>
                  <a:srgbClr val="1E293B"/>
                </a:solidFill>
                <a:latin typeface="Quattrocento Sans"/>
                <a:ea typeface="Quattrocento Sans"/>
                <a:cs typeface="Quattrocento Sans"/>
                <a:sym typeface="Quattrocento Sans"/>
              </a:rPr>
              <a:t>Grounding the VLM:</a:t>
            </a:r>
            <a:r>
              <a:rPr lang="en" sz="900">
                <a:solidFill>
                  <a:srgbClr val="1E293B"/>
                </a:solidFill>
                <a:latin typeface="Quattrocento Sans"/>
                <a:ea typeface="Quattrocento Sans"/>
                <a:cs typeface="Quattrocento Sans"/>
                <a:sym typeface="Quattrocento Sans"/>
              </a:rPr>
              <a:t> This annotated image is sent directly to the Multimodal LLM along with marks. The model reasons visually and simply specifies the numeric tag of the target element (e.g., "Click [31]").</a:t>
            </a:r>
            <a:endParaRPr sz="900">
              <a:solidFill>
                <a:srgbClr val="1E293B"/>
              </a:solidFill>
              <a:latin typeface="Quattrocento Sans"/>
              <a:ea typeface="Quattrocento Sans"/>
              <a:cs typeface="Quattrocento Sans"/>
              <a:sym typeface="Quattrocento Sans"/>
            </a:endParaRPr>
          </a:p>
          <a:p>
            <a:pPr indent="0" lvl="0" marL="0" marR="0" rtl="0" algn="l">
              <a:lnSpc>
                <a:spcPct val="150000"/>
              </a:lnSpc>
              <a:spcBef>
                <a:spcPts val="1000"/>
              </a:spcBef>
              <a:spcAft>
                <a:spcPts val="1000"/>
              </a:spcAft>
              <a:buNone/>
            </a:pPr>
            <a:r>
              <a:rPr b="1" lang="en" sz="900">
                <a:solidFill>
                  <a:srgbClr val="1E293B"/>
                </a:solidFill>
                <a:latin typeface="Quattrocento Sans"/>
                <a:ea typeface="Quattrocento Sans"/>
                <a:cs typeface="Quattrocento Sans"/>
                <a:sym typeface="Quattrocento Sans"/>
              </a:rPr>
              <a:t>Decoupled Execution:</a:t>
            </a:r>
            <a:r>
              <a:rPr lang="en" sz="900">
                <a:solidFill>
                  <a:srgbClr val="1E293B"/>
                </a:solidFill>
                <a:latin typeface="Quattrocento Sans"/>
                <a:ea typeface="Quattrocento Sans"/>
                <a:cs typeface="Quattrocento Sans"/>
                <a:sym typeface="Quattrocento Sans"/>
              </a:rPr>
              <a:t> TestPilot translates this numeric choice back to the underlying DOM node to perform the click. This completely bypasses the need for fragile CSS or XPath selectors.</a:t>
            </a:r>
            <a:endParaRPr sz="900">
              <a:solidFill>
                <a:srgbClr val="1E293B"/>
              </a:solidFill>
              <a:latin typeface="Quattrocento Sans"/>
              <a:ea typeface="Quattrocento Sans"/>
              <a:cs typeface="Quattrocento Sans"/>
              <a:sym typeface="Quattrocento Sans"/>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59" name="Shape 159"/>
        <p:cNvGrpSpPr/>
        <p:nvPr/>
      </p:nvGrpSpPr>
      <p:grpSpPr>
        <a:xfrm>
          <a:off x="0" y="0"/>
          <a:ext cx="0" cy="0"/>
          <a:chOff x="0" y="0"/>
          <a:chExt cx="0" cy="0"/>
        </a:xfrm>
      </p:grpSpPr>
      <p:sp>
        <p:nvSpPr>
          <p:cNvPr id="160" name="Google Shape;160;p24"/>
          <p:cNvSpPr/>
          <p:nvPr/>
        </p:nvSpPr>
        <p:spPr>
          <a:xfrm>
            <a:off x="238125" y="428625"/>
            <a:ext cx="2069400" cy="2859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i="0" lang="en" sz="2300" u="none" cap="none" strike="noStrike">
                <a:solidFill>
                  <a:srgbClr val="1E293B"/>
                </a:solidFill>
                <a:latin typeface="Liter"/>
                <a:ea typeface="Liter"/>
                <a:cs typeface="Liter"/>
                <a:sym typeface="Liter"/>
              </a:rPr>
              <a:t>Agent Logic</a:t>
            </a:r>
            <a:endParaRPr b="0" i="0" sz="1200" u="none" cap="none" strike="noStrike"/>
          </a:p>
        </p:txBody>
      </p:sp>
      <p:sp>
        <p:nvSpPr>
          <p:cNvPr id="161" name="Google Shape;161;p24"/>
          <p:cNvSpPr/>
          <p:nvPr/>
        </p:nvSpPr>
        <p:spPr>
          <a:xfrm>
            <a:off x="238125" y="785813"/>
            <a:ext cx="476250" cy="23813"/>
          </a:xfrm>
          <a:custGeom>
            <a:rect b="b" l="l" r="r" t="t"/>
            <a:pathLst>
              <a:path extrusionOk="0" h="31750" w="635000">
                <a:moveTo>
                  <a:pt x="0" y="0"/>
                </a:moveTo>
                <a:lnTo>
                  <a:pt x="635000" y="0"/>
                </a:lnTo>
                <a:lnTo>
                  <a:pt x="635000" y="31750"/>
                </a:lnTo>
                <a:lnTo>
                  <a:pt x="0" y="31750"/>
                </a:lnTo>
                <a:lnTo>
                  <a:pt x="0" y="0"/>
                </a:lnTo>
                <a:close/>
              </a:path>
            </a:pathLst>
          </a:custGeom>
          <a:solidFill>
            <a:srgbClr val="2563EB"/>
          </a:solidFill>
          <a:ln>
            <a:noFill/>
          </a:ln>
        </p:spPr>
      </p:sp>
      <p:sp>
        <p:nvSpPr>
          <p:cNvPr id="162" name="Google Shape;162;p24"/>
          <p:cNvSpPr/>
          <p:nvPr/>
        </p:nvSpPr>
        <p:spPr>
          <a:xfrm>
            <a:off x="238131" y="1012025"/>
            <a:ext cx="4988700" cy="1905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n" sz="1100" u="none" cap="none" strike="noStrike">
                <a:solidFill>
                  <a:srgbClr val="1E293B"/>
                </a:solidFill>
                <a:latin typeface="Liter"/>
                <a:ea typeface="Liter"/>
                <a:cs typeface="Liter"/>
                <a:sym typeface="Liter"/>
              </a:rPr>
              <a:t>Observe-Reason-Act Loop</a:t>
            </a:r>
            <a:endParaRPr b="0" i="0" sz="1200" u="none" cap="none" strike="noStrike"/>
          </a:p>
        </p:txBody>
      </p:sp>
      <p:sp>
        <p:nvSpPr>
          <p:cNvPr id="163" name="Google Shape;163;p24"/>
          <p:cNvSpPr/>
          <p:nvPr/>
        </p:nvSpPr>
        <p:spPr>
          <a:xfrm>
            <a:off x="238131" y="1297775"/>
            <a:ext cx="4965000" cy="3096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 sz="800" u="none" cap="none" strike="noStrike">
                <a:solidFill>
                  <a:srgbClr val="1E293B"/>
                </a:solidFill>
                <a:latin typeface="Quattrocento Sans"/>
                <a:ea typeface="Quattrocento Sans"/>
                <a:cs typeface="Quattrocento Sans"/>
                <a:sym typeface="Quattrocento Sans"/>
              </a:rPr>
              <a:t>The orchestration layer implements a continuous loop through specialized agent nodes that work together to execute natural language test specifications.</a:t>
            </a:r>
            <a:endParaRPr b="0" i="0" sz="1200" u="none" cap="none" strike="noStrike"/>
          </a:p>
        </p:txBody>
      </p:sp>
      <p:sp>
        <p:nvSpPr>
          <p:cNvPr id="164" name="Google Shape;164;p24"/>
          <p:cNvSpPr/>
          <p:nvPr/>
        </p:nvSpPr>
        <p:spPr>
          <a:xfrm>
            <a:off x="238131" y="1702588"/>
            <a:ext cx="1589485" cy="952500"/>
          </a:xfrm>
          <a:custGeom>
            <a:rect b="b" l="l" r="r" t="t"/>
            <a:pathLst>
              <a:path extrusionOk="0" h="1270000" w="2119313">
                <a:moveTo>
                  <a:pt x="63500" y="0"/>
                </a:moveTo>
                <a:lnTo>
                  <a:pt x="2055813" y="0"/>
                </a:lnTo>
                <a:cubicBezTo>
                  <a:pt x="2090859" y="0"/>
                  <a:pt x="2119313" y="28453"/>
                  <a:pt x="2119313" y="63500"/>
                </a:cubicBezTo>
                <a:lnTo>
                  <a:pt x="2119313" y="1206500"/>
                </a:lnTo>
                <a:cubicBezTo>
                  <a:pt x="2119313" y="1241547"/>
                  <a:pt x="2090859" y="1270000"/>
                  <a:pt x="2055813" y="1270000"/>
                </a:cubicBezTo>
                <a:lnTo>
                  <a:pt x="63500" y="1270000"/>
                </a:lnTo>
                <a:cubicBezTo>
                  <a:pt x="28453" y="1270000"/>
                  <a:pt x="0" y="1241547"/>
                  <a:pt x="0" y="1206500"/>
                </a:cubicBezTo>
                <a:lnTo>
                  <a:pt x="0" y="63500"/>
                </a:lnTo>
                <a:cubicBezTo>
                  <a:pt x="0" y="28453"/>
                  <a:pt x="28453" y="0"/>
                  <a:pt x="63500" y="0"/>
                </a:cubicBezTo>
                <a:close/>
              </a:path>
            </a:pathLst>
          </a:custGeom>
          <a:solidFill>
            <a:srgbClr val="2563EB">
              <a:alpha val="4710"/>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5" name="Google Shape;165;p24"/>
          <p:cNvSpPr/>
          <p:nvPr/>
        </p:nvSpPr>
        <p:spPr>
          <a:xfrm>
            <a:off x="306592" y="1881163"/>
            <a:ext cx="1452600" cy="166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 sz="800" u="none" cap="none" strike="noStrike">
                <a:solidFill>
                  <a:srgbClr val="1E293B"/>
                </a:solidFill>
                <a:latin typeface="Liter"/>
                <a:ea typeface="Liter"/>
                <a:cs typeface="Liter"/>
                <a:sym typeface="Liter"/>
              </a:rPr>
              <a:t>Actor</a:t>
            </a:r>
            <a:endParaRPr b="0" i="0" sz="1200" u="none" cap="none" strike="noStrike"/>
          </a:p>
        </p:txBody>
      </p:sp>
      <p:sp>
        <p:nvSpPr>
          <p:cNvPr id="166" name="Google Shape;166;p24"/>
          <p:cNvSpPr/>
          <p:nvPr/>
        </p:nvSpPr>
        <p:spPr>
          <a:xfrm>
            <a:off x="256544" y="2178866"/>
            <a:ext cx="1515300" cy="2382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0" lang="en" sz="700" u="none" cap="none" strike="noStrike">
                <a:solidFill>
                  <a:schemeClr val="dk2"/>
                </a:solidFill>
                <a:latin typeface="Quattrocento Sans"/>
                <a:ea typeface="Quattrocento Sans"/>
                <a:cs typeface="Quattrocento Sans"/>
                <a:sym typeface="Quattrocento Sans"/>
              </a:rPr>
              <a:t>Executes actions on web elements based on current state and test goals</a:t>
            </a:r>
            <a:endParaRPr b="0" i="0" sz="1300" u="none" cap="none" strike="noStrike">
              <a:solidFill>
                <a:schemeClr val="dk2"/>
              </a:solidFill>
            </a:endParaRPr>
          </a:p>
        </p:txBody>
      </p:sp>
      <p:sp>
        <p:nvSpPr>
          <p:cNvPr id="167" name="Google Shape;167;p24"/>
          <p:cNvSpPr/>
          <p:nvPr/>
        </p:nvSpPr>
        <p:spPr>
          <a:xfrm>
            <a:off x="1900170" y="1702588"/>
            <a:ext cx="1589485" cy="952500"/>
          </a:xfrm>
          <a:custGeom>
            <a:rect b="b" l="l" r="r" t="t"/>
            <a:pathLst>
              <a:path extrusionOk="0" h="1270000" w="2119313">
                <a:moveTo>
                  <a:pt x="63500" y="0"/>
                </a:moveTo>
                <a:lnTo>
                  <a:pt x="2055813" y="0"/>
                </a:lnTo>
                <a:cubicBezTo>
                  <a:pt x="2090859" y="0"/>
                  <a:pt x="2119313" y="28453"/>
                  <a:pt x="2119313" y="63500"/>
                </a:cubicBezTo>
                <a:lnTo>
                  <a:pt x="2119313" y="1206500"/>
                </a:lnTo>
                <a:cubicBezTo>
                  <a:pt x="2119313" y="1241547"/>
                  <a:pt x="2090859" y="1270000"/>
                  <a:pt x="2055813" y="1270000"/>
                </a:cubicBezTo>
                <a:lnTo>
                  <a:pt x="63500" y="1270000"/>
                </a:lnTo>
                <a:cubicBezTo>
                  <a:pt x="28453" y="1270000"/>
                  <a:pt x="0" y="1241547"/>
                  <a:pt x="0" y="1206500"/>
                </a:cubicBezTo>
                <a:lnTo>
                  <a:pt x="0" y="63500"/>
                </a:lnTo>
                <a:cubicBezTo>
                  <a:pt x="0" y="28453"/>
                  <a:pt x="28453" y="0"/>
                  <a:pt x="63500" y="0"/>
                </a:cubicBezTo>
                <a:close/>
              </a:path>
            </a:pathLst>
          </a:custGeom>
          <a:solidFill>
            <a:srgbClr val="0EA5E9">
              <a:alpha val="4710"/>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8" name="Google Shape;168;p24"/>
          <p:cNvSpPr/>
          <p:nvPr/>
        </p:nvSpPr>
        <p:spPr>
          <a:xfrm>
            <a:off x="1968630" y="1881163"/>
            <a:ext cx="1452600" cy="166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 sz="800" u="none" cap="none" strike="noStrike">
                <a:solidFill>
                  <a:srgbClr val="1E293B"/>
                </a:solidFill>
                <a:latin typeface="Liter"/>
                <a:ea typeface="Liter"/>
                <a:cs typeface="Liter"/>
                <a:sym typeface="Liter"/>
              </a:rPr>
              <a:t>Assertor</a:t>
            </a:r>
            <a:endParaRPr b="0" i="0" sz="1200" u="none" cap="none" strike="noStrike"/>
          </a:p>
        </p:txBody>
      </p:sp>
      <p:sp>
        <p:nvSpPr>
          <p:cNvPr id="169" name="Google Shape;169;p24"/>
          <p:cNvSpPr/>
          <p:nvPr/>
        </p:nvSpPr>
        <p:spPr>
          <a:xfrm>
            <a:off x="1993146" y="2214509"/>
            <a:ext cx="1440600" cy="2382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0" lang="en" sz="700" u="none" cap="none" strike="noStrike">
                <a:solidFill>
                  <a:schemeClr val="dk2"/>
                </a:solidFill>
                <a:latin typeface="Quattrocento Sans"/>
                <a:ea typeface="Quattrocento Sans"/>
                <a:cs typeface="Quattrocento Sans"/>
                <a:sym typeface="Quattrocento Sans"/>
              </a:rPr>
              <a:t>Verifies expected outcomes and validates test conditions</a:t>
            </a:r>
            <a:endParaRPr b="0" i="0" sz="1300" u="none" cap="none" strike="noStrike">
              <a:solidFill>
                <a:schemeClr val="dk2"/>
              </a:solidFill>
            </a:endParaRPr>
          </a:p>
        </p:txBody>
      </p:sp>
      <p:sp>
        <p:nvSpPr>
          <p:cNvPr id="170" name="Google Shape;170;p24"/>
          <p:cNvSpPr/>
          <p:nvPr/>
        </p:nvSpPr>
        <p:spPr>
          <a:xfrm>
            <a:off x="3562301" y="1702588"/>
            <a:ext cx="1589485" cy="952500"/>
          </a:xfrm>
          <a:custGeom>
            <a:rect b="b" l="l" r="r" t="t"/>
            <a:pathLst>
              <a:path extrusionOk="0" h="1270000" w="2119313">
                <a:moveTo>
                  <a:pt x="63500" y="0"/>
                </a:moveTo>
                <a:lnTo>
                  <a:pt x="2055813" y="0"/>
                </a:lnTo>
                <a:cubicBezTo>
                  <a:pt x="2090859" y="0"/>
                  <a:pt x="2119313" y="28453"/>
                  <a:pt x="2119313" y="63500"/>
                </a:cubicBezTo>
                <a:lnTo>
                  <a:pt x="2119313" y="1206500"/>
                </a:lnTo>
                <a:cubicBezTo>
                  <a:pt x="2119313" y="1241547"/>
                  <a:pt x="2090859" y="1270000"/>
                  <a:pt x="2055813" y="1270000"/>
                </a:cubicBezTo>
                <a:lnTo>
                  <a:pt x="63500" y="1270000"/>
                </a:lnTo>
                <a:cubicBezTo>
                  <a:pt x="28453" y="1270000"/>
                  <a:pt x="0" y="1241547"/>
                  <a:pt x="0" y="1206500"/>
                </a:cubicBezTo>
                <a:lnTo>
                  <a:pt x="0" y="63500"/>
                </a:lnTo>
                <a:cubicBezTo>
                  <a:pt x="0" y="28453"/>
                  <a:pt x="28453" y="0"/>
                  <a:pt x="63500" y="0"/>
                </a:cubicBezTo>
                <a:close/>
              </a:path>
            </a:pathLst>
          </a:custGeom>
          <a:solidFill>
            <a:srgbClr val="64748B">
              <a:alpha val="4710"/>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1" name="Google Shape;171;p24"/>
          <p:cNvSpPr/>
          <p:nvPr/>
        </p:nvSpPr>
        <p:spPr>
          <a:xfrm>
            <a:off x="3630762" y="1881163"/>
            <a:ext cx="1452600" cy="166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 sz="800" u="none" cap="none" strike="noStrike">
                <a:solidFill>
                  <a:srgbClr val="1E293B"/>
                </a:solidFill>
                <a:latin typeface="Liter"/>
                <a:ea typeface="Liter"/>
                <a:cs typeface="Liter"/>
                <a:sym typeface="Liter"/>
              </a:rPr>
              <a:t>Recovery</a:t>
            </a:r>
            <a:endParaRPr b="0" i="0" sz="1200" u="none" cap="none" strike="noStrike"/>
          </a:p>
        </p:txBody>
      </p:sp>
      <p:sp>
        <p:nvSpPr>
          <p:cNvPr id="172" name="Google Shape;172;p24"/>
          <p:cNvSpPr/>
          <p:nvPr/>
        </p:nvSpPr>
        <p:spPr>
          <a:xfrm>
            <a:off x="3655277" y="2214509"/>
            <a:ext cx="1440600" cy="2382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0" lang="en" sz="700" u="none" cap="none" strike="noStrike">
                <a:solidFill>
                  <a:schemeClr val="dk2"/>
                </a:solidFill>
                <a:latin typeface="Quattrocento Sans"/>
                <a:ea typeface="Quattrocento Sans"/>
                <a:cs typeface="Quattrocento Sans"/>
                <a:sym typeface="Quattrocento Sans"/>
              </a:rPr>
              <a:t>Handles errors and attempts recovery from failed actions</a:t>
            </a:r>
            <a:endParaRPr b="0" i="0" sz="1300" u="none" cap="none" strike="noStrike">
              <a:solidFill>
                <a:schemeClr val="dk2"/>
              </a:solidFill>
            </a:endParaRPr>
          </a:p>
        </p:txBody>
      </p:sp>
      <p:sp>
        <p:nvSpPr>
          <p:cNvPr id="173" name="Google Shape;173;p24"/>
          <p:cNvSpPr/>
          <p:nvPr/>
        </p:nvSpPr>
        <p:spPr>
          <a:xfrm>
            <a:off x="306600" y="3155175"/>
            <a:ext cx="4776900" cy="4524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 sz="800" u="none" cap="none" strike="noStrike">
                <a:solidFill>
                  <a:srgbClr val="1E293B"/>
                </a:solidFill>
                <a:latin typeface="Quattrocento Sans"/>
                <a:ea typeface="Quattrocento Sans"/>
                <a:cs typeface="Quattrocento Sans"/>
                <a:sym typeface="Quattrocento Sans"/>
              </a:rPr>
              <a:t>The system extracts three categories of features from the browser environment, prioritizing multimodal inputs that mirror human testing behavior:</a:t>
            </a:r>
            <a:endParaRPr b="0" i="0" sz="1200" u="none" cap="none" strike="noStrike"/>
          </a:p>
        </p:txBody>
      </p:sp>
      <p:sp>
        <p:nvSpPr>
          <p:cNvPr id="174" name="Google Shape;174;p24"/>
          <p:cNvSpPr/>
          <p:nvPr/>
        </p:nvSpPr>
        <p:spPr>
          <a:xfrm>
            <a:off x="306594" y="2891188"/>
            <a:ext cx="3214800" cy="1668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 sz="900" u="none" cap="none" strike="noStrike">
                <a:solidFill>
                  <a:srgbClr val="1E293B"/>
                </a:solidFill>
                <a:latin typeface="Liter"/>
                <a:ea typeface="Liter"/>
                <a:cs typeface="Liter"/>
                <a:sym typeface="Liter"/>
              </a:rPr>
              <a:t>Feature Categories</a:t>
            </a:r>
            <a:endParaRPr b="0" i="0" sz="1200" u="none" cap="none" strike="noStrike"/>
          </a:p>
        </p:txBody>
      </p:sp>
      <p:sp>
        <p:nvSpPr>
          <p:cNvPr id="175" name="Google Shape;175;p24"/>
          <p:cNvSpPr/>
          <p:nvPr/>
        </p:nvSpPr>
        <p:spPr>
          <a:xfrm>
            <a:off x="306594" y="3786331"/>
            <a:ext cx="780000" cy="1668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 sz="800" u="none" cap="none" strike="noStrike">
                <a:solidFill>
                  <a:srgbClr val="1E293B"/>
                </a:solidFill>
                <a:latin typeface="Liter"/>
                <a:ea typeface="Liter"/>
                <a:cs typeface="Liter"/>
                <a:sym typeface="Liter"/>
              </a:rPr>
              <a:t>Visual Features</a:t>
            </a:r>
            <a:endParaRPr b="1" i="0" sz="1200" u="none" cap="none" strike="noStrike"/>
          </a:p>
        </p:txBody>
      </p:sp>
      <p:sp>
        <p:nvSpPr>
          <p:cNvPr id="176" name="Google Shape;176;p24"/>
          <p:cNvSpPr/>
          <p:nvPr/>
        </p:nvSpPr>
        <p:spPr>
          <a:xfrm>
            <a:off x="306600" y="4052850"/>
            <a:ext cx="1452600" cy="778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0" i="0" lang="en" sz="800" u="none" cap="none" strike="noStrike">
                <a:solidFill>
                  <a:schemeClr val="dk2"/>
                </a:solidFill>
                <a:latin typeface="Quattrocento Sans"/>
                <a:ea typeface="Quattrocento Sans"/>
                <a:cs typeface="Quattrocento Sans"/>
                <a:sym typeface="Quattrocento Sans"/>
              </a:rPr>
              <a:t>Full-page screenshots serve as primary input for element localization and assertion verification</a:t>
            </a:r>
            <a:r>
              <a:rPr lang="en" sz="800">
                <a:solidFill>
                  <a:schemeClr val="dk2"/>
                </a:solidFill>
                <a:latin typeface="Quattrocento Sans"/>
                <a:ea typeface="Quattrocento Sans"/>
                <a:cs typeface="Quattrocento Sans"/>
                <a:sym typeface="Quattrocento Sans"/>
              </a:rPr>
              <a:t>.</a:t>
            </a:r>
            <a:endParaRPr b="0" i="0" sz="1200" u="none" cap="none" strike="noStrike">
              <a:solidFill>
                <a:schemeClr val="dk2"/>
              </a:solidFill>
            </a:endParaRPr>
          </a:p>
        </p:txBody>
      </p:sp>
      <p:sp>
        <p:nvSpPr>
          <p:cNvPr id="177" name="Google Shape;177;p24"/>
          <p:cNvSpPr/>
          <p:nvPr/>
        </p:nvSpPr>
        <p:spPr>
          <a:xfrm>
            <a:off x="1955794" y="3786325"/>
            <a:ext cx="958500" cy="1668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 sz="800" u="none" cap="none" strike="noStrike">
                <a:solidFill>
                  <a:srgbClr val="1E293B"/>
                </a:solidFill>
                <a:latin typeface="Liter"/>
                <a:ea typeface="Liter"/>
                <a:cs typeface="Liter"/>
                <a:sym typeface="Liter"/>
              </a:rPr>
              <a:t>Structural Features</a:t>
            </a:r>
            <a:endParaRPr b="0" i="0" sz="1200" u="none" cap="none" strike="noStrike"/>
          </a:p>
        </p:txBody>
      </p:sp>
      <p:sp>
        <p:nvSpPr>
          <p:cNvPr id="178" name="Google Shape;178;p24"/>
          <p:cNvSpPr/>
          <p:nvPr/>
        </p:nvSpPr>
        <p:spPr>
          <a:xfrm>
            <a:off x="1925925" y="4052850"/>
            <a:ext cx="1589400" cy="952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0" i="0" lang="en" sz="800" u="none" cap="none" strike="noStrike">
                <a:solidFill>
                  <a:schemeClr val="dk2"/>
                </a:solidFill>
                <a:latin typeface="Quattrocento Sans"/>
                <a:ea typeface="Quattrocento Sans"/>
                <a:cs typeface="Quattrocento Sans"/>
                <a:sym typeface="Quattrocento Sans"/>
              </a:rPr>
              <a:t>Accessibility tree snapshots filtered to include interactive elements (buttons, inputs, links) with their semantic labels, </a:t>
            </a:r>
            <a:endParaRPr b="0" i="0" sz="1200" u="none" cap="none" strike="noStrike">
              <a:solidFill>
                <a:schemeClr val="dk2"/>
              </a:solidFill>
            </a:endParaRPr>
          </a:p>
        </p:txBody>
      </p:sp>
      <p:sp>
        <p:nvSpPr>
          <p:cNvPr id="179" name="Google Shape;179;p24"/>
          <p:cNvSpPr/>
          <p:nvPr/>
        </p:nvSpPr>
        <p:spPr>
          <a:xfrm>
            <a:off x="3655269" y="3786319"/>
            <a:ext cx="738300" cy="1668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 sz="800" u="none" cap="none" strike="noStrike">
                <a:solidFill>
                  <a:srgbClr val="1E293B"/>
                </a:solidFill>
                <a:latin typeface="Liter"/>
                <a:ea typeface="Liter"/>
                <a:cs typeface="Liter"/>
                <a:sym typeface="Liter"/>
              </a:rPr>
              <a:t>State Features</a:t>
            </a:r>
            <a:endParaRPr b="0" i="0" sz="1200" u="none" cap="none" strike="noStrike"/>
          </a:p>
        </p:txBody>
      </p:sp>
      <p:sp>
        <p:nvSpPr>
          <p:cNvPr id="180" name="Google Shape;180;p24"/>
          <p:cNvSpPr/>
          <p:nvPr/>
        </p:nvSpPr>
        <p:spPr>
          <a:xfrm>
            <a:off x="3655275" y="4052850"/>
            <a:ext cx="1746000" cy="888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0" i="0" lang="en" sz="800" u="none" cap="none" strike="noStrike">
                <a:solidFill>
                  <a:schemeClr val="dk2"/>
                </a:solidFill>
                <a:latin typeface="Quattrocento Sans"/>
                <a:ea typeface="Quattrocento Sans"/>
                <a:cs typeface="Quattrocento Sans"/>
                <a:sym typeface="Quattrocento Sans"/>
              </a:rPr>
              <a:t>Current URL, browser console logs, and sequential history of previously executed actions within the active test run, grounding the agent in temporal context.</a:t>
            </a:r>
            <a:endParaRPr b="0" i="0" sz="1200" u="none" cap="none" strike="noStrike">
              <a:solidFill>
                <a:schemeClr val="dk2"/>
              </a:solidFill>
            </a:endParaRPr>
          </a:p>
        </p:txBody>
      </p:sp>
      <p:pic>
        <p:nvPicPr>
          <p:cNvPr id="181" name="Google Shape;181;p24" title="presentation_img_2.png"/>
          <p:cNvPicPr preferRelativeResize="0"/>
          <p:nvPr/>
        </p:nvPicPr>
        <p:blipFill>
          <a:blip r:embed="rId3">
            <a:alphaModFix/>
          </a:blip>
          <a:stretch>
            <a:fillRect/>
          </a:stretch>
        </p:blipFill>
        <p:spPr>
          <a:xfrm>
            <a:off x="5734700" y="152400"/>
            <a:ext cx="3409300" cy="4838702"/>
          </a:xfrm>
          <a:prstGeom prst="rect">
            <a:avLst/>
          </a:prstGeom>
          <a:noFill/>
          <a:ln>
            <a:noFill/>
          </a:ln>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86" name="Shape 186"/>
        <p:cNvGrpSpPr/>
        <p:nvPr/>
      </p:nvGrpSpPr>
      <p:grpSpPr>
        <a:xfrm>
          <a:off x="0" y="0"/>
          <a:ext cx="0" cy="0"/>
          <a:chOff x="0" y="0"/>
          <a:chExt cx="0" cy="0"/>
        </a:xfrm>
      </p:grpSpPr>
      <p:sp>
        <p:nvSpPr>
          <p:cNvPr id="187" name="Google Shape;187;p25"/>
          <p:cNvSpPr/>
          <p:nvPr/>
        </p:nvSpPr>
        <p:spPr>
          <a:xfrm>
            <a:off x="238125" y="428625"/>
            <a:ext cx="5633400" cy="2859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lang="en" sz="2300">
                <a:solidFill>
                  <a:srgbClr val="1E293B"/>
                </a:solidFill>
                <a:latin typeface="Liter"/>
                <a:ea typeface="Liter"/>
                <a:cs typeface="Liter"/>
                <a:sym typeface="Liter"/>
              </a:rPr>
              <a:t>The Test Authoring &amp; Editor Screen</a:t>
            </a:r>
            <a:endParaRPr b="0" i="0" sz="1200" u="none" cap="none" strike="noStrike"/>
          </a:p>
        </p:txBody>
      </p:sp>
      <p:sp>
        <p:nvSpPr>
          <p:cNvPr id="188" name="Google Shape;188;p25"/>
          <p:cNvSpPr/>
          <p:nvPr/>
        </p:nvSpPr>
        <p:spPr>
          <a:xfrm>
            <a:off x="238125" y="785813"/>
            <a:ext cx="476250" cy="23813"/>
          </a:xfrm>
          <a:custGeom>
            <a:rect b="b" l="l" r="r" t="t"/>
            <a:pathLst>
              <a:path extrusionOk="0" h="31750" w="635000">
                <a:moveTo>
                  <a:pt x="0" y="0"/>
                </a:moveTo>
                <a:lnTo>
                  <a:pt x="635000" y="0"/>
                </a:lnTo>
                <a:lnTo>
                  <a:pt x="635000" y="31750"/>
                </a:lnTo>
                <a:lnTo>
                  <a:pt x="0" y="31750"/>
                </a:lnTo>
                <a:lnTo>
                  <a:pt x="0" y="0"/>
                </a:lnTo>
                <a:close/>
              </a:path>
            </a:pathLst>
          </a:custGeom>
          <a:solidFill>
            <a:srgbClr val="2563EB"/>
          </a:solidFill>
          <a:ln>
            <a:noFill/>
          </a:ln>
        </p:spPr>
      </p:sp>
      <p:pic>
        <p:nvPicPr>
          <p:cNvPr id="189" name="Google Shape;189;p25"/>
          <p:cNvPicPr preferRelativeResize="0"/>
          <p:nvPr/>
        </p:nvPicPr>
        <p:blipFill>
          <a:blip r:embed="rId3">
            <a:alphaModFix/>
          </a:blip>
          <a:stretch>
            <a:fillRect/>
          </a:stretch>
        </p:blipFill>
        <p:spPr>
          <a:xfrm>
            <a:off x="1141175" y="938425"/>
            <a:ext cx="6861659" cy="4124176"/>
          </a:xfrm>
          <a:prstGeom prst="rect">
            <a:avLst/>
          </a:prstGeom>
          <a:noFill/>
          <a:ln>
            <a:noFill/>
          </a:ln>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94" name="Shape 194"/>
        <p:cNvGrpSpPr/>
        <p:nvPr/>
      </p:nvGrpSpPr>
      <p:grpSpPr>
        <a:xfrm>
          <a:off x="0" y="0"/>
          <a:ext cx="0" cy="0"/>
          <a:chOff x="0" y="0"/>
          <a:chExt cx="0" cy="0"/>
        </a:xfrm>
      </p:grpSpPr>
      <p:sp>
        <p:nvSpPr>
          <p:cNvPr id="195" name="Google Shape;195;p26"/>
          <p:cNvSpPr/>
          <p:nvPr/>
        </p:nvSpPr>
        <p:spPr>
          <a:xfrm>
            <a:off x="238125" y="428625"/>
            <a:ext cx="5633400" cy="2859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lang="en" sz="2300">
                <a:solidFill>
                  <a:srgbClr val="1E293B"/>
                </a:solidFill>
                <a:latin typeface="Liter"/>
                <a:ea typeface="Liter"/>
                <a:cs typeface="Liter"/>
                <a:sym typeface="Liter"/>
              </a:rPr>
              <a:t>The Live Execution Screen</a:t>
            </a:r>
            <a:endParaRPr b="0" i="0" sz="1200" u="none" cap="none" strike="noStrike"/>
          </a:p>
        </p:txBody>
      </p:sp>
      <p:sp>
        <p:nvSpPr>
          <p:cNvPr id="196" name="Google Shape;196;p26"/>
          <p:cNvSpPr/>
          <p:nvPr/>
        </p:nvSpPr>
        <p:spPr>
          <a:xfrm>
            <a:off x="238125" y="785813"/>
            <a:ext cx="476250" cy="23813"/>
          </a:xfrm>
          <a:custGeom>
            <a:rect b="b" l="l" r="r" t="t"/>
            <a:pathLst>
              <a:path extrusionOk="0" h="31750" w="635000">
                <a:moveTo>
                  <a:pt x="0" y="0"/>
                </a:moveTo>
                <a:lnTo>
                  <a:pt x="635000" y="0"/>
                </a:lnTo>
                <a:lnTo>
                  <a:pt x="635000" y="31750"/>
                </a:lnTo>
                <a:lnTo>
                  <a:pt x="0" y="31750"/>
                </a:lnTo>
                <a:lnTo>
                  <a:pt x="0" y="0"/>
                </a:lnTo>
                <a:close/>
              </a:path>
            </a:pathLst>
          </a:custGeom>
          <a:solidFill>
            <a:srgbClr val="2563EB"/>
          </a:solidFill>
          <a:ln>
            <a:noFill/>
          </a:ln>
        </p:spPr>
      </p:sp>
      <p:pic>
        <p:nvPicPr>
          <p:cNvPr id="197" name="Google Shape;197;p26"/>
          <p:cNvPicPr preferRelativeResize="0"/>
          <p:nvPr/>
        </p:nvPicPr>
        <p:blipFill rotWithShape="1">
          <a:blip r:embed="rId3">
            <a:alphaModFix/>
          </a:blip>
          <a:srcRect b="0" l="0" r="0" t="4480"/>
          <a:stretch/>
        </p:blipFill>
        <p:spPr>
          <a:xfrm>
            <a:off x="762925" y="1085325"/>
            <a:ext cx="7618150" cy="3939475"/>
          </a:xfrm>
          <a:prstGeom prst="rect">
            <a:avLst/>
          </a:prstGeom>
          <a:noFill/>
          <a:ln>
            <a:noFill/>
          </a:ln>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202" name="Shape 202"/>
        <p:cNvGrpSpPr/>
        <p:nvPr/>
      </p:nvGrpSpPr>
      <p:grpSpPr>
        <a:xfrm>
          <a:off x="0" y="0"/>
          <a:ext cx="0" cy="0"/>
          <a:chOff x="0" y="0"/>
          <a:chExt cx="0" cy="0"/>
        </a:xfrm>
      </p:grpSpPr>
      <p:sp>
        <p:nvSpPr>
          <p:cNvPr id="203" name="Google Shape;203;p27"/>
          <p:cNvSpPr/>
          <p:nvPr/>
        </p:nvSpPr>
        <p:spPr>
          <a:xfrm>
            <a:off x="238125" y="428625"/>
            <a:ext cx="5633400" cy="2859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lang="en" sz="2300">
                <a:solidFill>
                  <a:srgbClr val="1E293B"/>
                </a:solidFill>
                <a:latin typeface="Liter"/>
                <a:ea typeface="Liter"/>
                <a:cs typeface="Liter"/>
                <a:sym typeface="Liter"/>
              </a:rPr>
              <a:t>The Step-by-Step Execution Trace</a:t>
            </a:r>
            <a:r>
              <a:rPr b="1" lang="en" sz="2300">
                <a:solidFill>
                  <a:srgbClr val="1E293B"/>
                </a:solidFill>
                <a:latin typeface="Liter"/>
                <a:ea typeface="Liter"/>
                <a:cs typeface="Liter"/>
                <a:sym typeface="Liter"/>
              </a:rPr>
              <a:t> Screen</a:t>
            </a:r>
            <a:endParaRPr b="0" i="0" sz="1200" u="none" cap="none" strike="noStrike"/>
          </a:p>
        </p:txBody>
      </p:sp>
      <p:sp>
        <p:nvSpPr>
          <p:cNvPr id="204" name="Google Shape;204;p27"/>
          <p:cNvSpPr/>
          <p:nvPr/>
        </p:nvSpPr>
        <p:spPr>
          <a:xfrm>
            <a:off x="238125" y="785813"/>
            <a:ext cx="476250" cy="23813"/>
          </a:xfrm>
          <a:custGeom>
            <a:rect b="b" l="l" r="r" t="t"/>
            <a:pathLst>
              <a:path extrusionOk="0" h="31750" w="635000">
                <a:moveTo>
                  <a:pt x="0" y="0"/>
                </a:moveTo>
                <a:lnTo>
                  <a:pt x="635000" y="0"/>
                </a:lnTo>
                <a:lnTo>
                  <a:pt x="635000" y="31750"/>
                </a:lnTo>
                <a:lnTo>
                  <a:pt x="0" y="31750"/>
                </a:lnTo>
                <a:lnTo>
                  <a:pt x="0" y="0"/>
                </a:lnTo>
                <a:close/>
              </a:path>
            </a:pathLst>
          </a:custGeom>
          <a:solidFill>
            <a:srgbClr val="2563EB"/>
          </a:solidFill>
          <a:ln>
            <a:noFill/>
          </a:ln>
        </p:spPr>
      </p:sp>
      <p:pic>
        <p:nvPicPr>
          <p:cNvPr id="205" name="Google Shape;205;p27"/>
          <p:cNvPicPr preferRelativeResize="0"/>
          <p:nvPr/>
        </p:nvPicPr>
        <p:blipFill>
          <a:blip r:embed="rId3">
            <a:alphaModFix/>
          </a:blip>
          <a:stretch>
            <a:fillRect/>
          </a:stretch>
        </p:blipFill>
        <p:spPr>
          <a:xfrm>
            <a:off x="2146750" y="934350"/>
            <a:ext cx="4850499" cy="4124176"/>
          </a:xfrm>
          <a:prstGeom prst="rect">
            <a:avLst/>
          </a:prstGeom>
          <a:noFill/>
          <a:ln>
            <a:noFill/>
          </a:ln>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210" name="Shape 210"/>
        <p:cNvGrpSpPr/>
        <p:nvPr/>
      </p:nvGrpSpPr>
      <p:grpSpPr>
        <a:xfrm>
          <a:off x="0" y="0"/>
          <a:ext cx="0" cy="0"/>
          <a:chOff x="0" y="0"/>
          <a:chExt cx="0" cy="0"/>
        </a:xfrm>
      </p:grpSpPr>
      <p:sp>
        <p:nvSpPr>
          <p:cNvPr id="211" name="Google Shape;211;p28"/>
          <p:cNvSpPr/>
          <p:nvPr/>
        </p:nvSpPr>
        <p:spPr>
          <a:xfrm>
            <a:off x="238125" y="428625"/>
            <a:ext cx="4333800" cy="2859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lang="en" sz="2300">
                <a:solidFill>
                  <a:srgbClr val="1E293B"/>
                </a:solidFill>
                <a:latin typeface="Liter"/>
                <a:ea typeface="Liter"/>
                <a:cs typeface="Liter"/>
                <a:sym typeface="Liter"/>
              </a:rPr>
              <a:t>System Architecture Overview</a:t>
            </a:r>
            <a:endParaRPr b="0" i="0" sz="1200" u="none" cap="none" strike="noStrike"/>
          </a:p>
        </p:txBody>
      </p:sp>
      <p:sp>
        <p:nvSpPr>
          <p:cNvPr id="212" name="Google Shape;212;p28"/>
          <p:cNvSpPr/>
          <p:nvPr/>
        </p:nvSpPr>
        <p:spPr>
          <a:xfrm>
            <a:off x="238125" y="785813"/>
            <a:ext cx="476250" cy="23813"/>
          </a:xfrm>
          <a:custGeom>
            <a:rect b="b" l="l" r="r" t="t"/>
            <a:pathLst>
              <a:path extrusionOk="0" h="31750" w="635000">
                <a:moveTo>
                  <a:pt x="0" y="0"/>
                </a:moveTo>
                <a:lnTo>
                  <a:pt x="635000" y="0"/>
                </a:lnTo>
                <a:lnTo>
                  <a:pt x="635000" y="31750"/>
                </a:lnTo>
                <a:lnTo>
                  <a:pt x="0" y="31750"/>
                </a:lnTo>
                <a:lnTo>
                  <a:pt x="0" y="0"/>
                </a:lnTo>
                <a:close/>
              </a:path>
            </a:pathLst>
          </a:custGeom>
          <a:solidFill>
            <a:srgbClr val="2563EB"/>
          </a:solidFill>
          <a:ln>
            <a:noFill/>
          </a:ln>
        </p:spPr>
      </p:sp>
      <p:pic>
        <p:nvPicPr>
          <p:cNvPr id="213" name="Google Shape;213;p28" title="presentation_img_3.png"/>
          <p:cNvPicPr preferRelativeResize="0"/>
          <p:nvPr/>
        </p:nvPicPr>
        <p:blipFill rotWithShape="1">
          <a:blip r:embed="rId3">
            <a:alphaModFix/>
          </a:blip>
          <a:srcRect b="10531" l="6971" r="7074" t="10230"/>
          <a:stretch/>
        </p:blipFill>
        <p:spPr>
          <a:xfrm>
            <a:off x="1258125" y="973275"/>
            <a:ext cx="6627748" cy="4092875"/>
          </a:xfrm>
          <a:prstGeom prst="rect">
            <a:avLst/>
          </a:prstGeom>
          <a:noFill/>
          <a:ln>
            <a:noFill/>
          </a:ln>
        </p:spPr>
      </p:pic>
      <p:sp>
        <p:nvSpPr>
          <p:cNvPr id="214" name="Google Shape;214;p28"/>
          <p:cNvSpPr/>
          <p:nvPr/>
        </p:nvSpPr>
        <p:spPr>
          <a:xfrm>
            <a:off x="4290150" y="4750250"/>
            <a:ext cx="1375800" cy="3159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800">
                <a:solidFill>
                  <a:schemeClr val="dk2"/>
                </a:solidFill>
                <a:latin typeface="Quattrocento Sans"/>
                <a:ea typeface="Quattrocento Sans"/>
                <a:cs typeface="Quattrocento Sans"/>
                <a:sym typeface="Quattrocento Sans"/>
              </a:rPr>
              <a:t>Simplified version of Figure 4.1</a:t>
            </a:r>
            <a:endParaRPr b="0" i="0" sz="1200" u="none" cap="none" strike="noStrike">
              <a:solidFill>
                <a:schemeClr val="dk2"/>
              </a:solidFill>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219" name="Shape 219"/>
        <p:cNvGrpSpPr/>
        <p:nvPr/>
      </p:nvGrpSpPr>
      <p:grpSpPr>
        <a:xfrm>
          <a:off x="0" y="0"/>
          <a:ext cx="0" cy="0"/>
          <a:chOff x="0" y="0"/>
          <a:chExt cx="0" cy="0"/>
        </a:xfrm>
      </p:grpSpPr>
      <p:sp>
        <p:nvSpPr>
          <p:cNvPr id="220" name="Google Shape;220;p29"/>
          <p:cNvSpPr/>
          <p:nvPr/>
        </p:nvSpPr>
        <p:spPr>
          <a:xfrm>
            <a:off x="2489849" y="1635150"/>
            <a:ext cx="4164300" cy="1873200"/>
          </a:xfrm>
          <a:prstGeom prst="rect">
            <a:avLst/>
          </a:prstGeom>
          <a:noFill/>
          <a:ln>
            <a:noFill/>
          </a:ln>
        </p:spPr>
        <p:txBody>
          <a:bodyPr anchorCtr="0" anchor="ctr" bIns="0" lIns="0" spcFirstLastPara="1" rIns="0" wrap="square" tIns="0">
            <a:noAutofit/>
          </a:bodyPr>
          <a:lstStyle/>
          <a:p>
            <a:pPr indent="0" lvl="0" marL="0" marR="0" rtl="0" algn="ctr">
              <a:lnSpc>
                <a:spcPct val="80000"/>
              </a:lnSpc>
              <a:spcBef>
                <a:spcPts val="0"/>
              </a:spcBef>
              <a:spcAft>
                <a:spcPts val="0"/>
              </a:spcAft>
              <a:buNone/>
            </a:pPr>
            <a:r>
              <a:rPr b="1" lang="en" sz="3344">
                <a:solidFill>
                  <a:srgbClr val="1E293B"/>
                </a:solidFill>
                <a:latin typeface="Liter"/>
                <a:ea typeface="Liter"/>
                <a:cs typeface="Liter"/>
                <a:sym typeface="Liter"/>
              </a:rPr>
              <a:t>Live</a:t>
            </a:r>
            <a:br>
              <a:rPr b="1" lang="en" sz="3344">
                <a:solidFill>
                  <a:srgbClr val="1E293B"/>
                </a:solidFill>
                <a:latin typeface="Liter"/>
                <a:ea typeface="Liter"/>
                <a:cs typeface="Liter"/>
                <a:sym typeface="Liter"/>
              </a:rPr>
            </a:br>
            <a:r>
              <a:rPr b="1" lang="en" sz="3344">
                <a:solidFill>
                  <a:srgbClr val="1E293B"/>
                </a:solidFill>
                <a:latin typeface="Liter"/>
                <a:ea typeface="Liter"/>
                <a:cs typeface="Liter"/>
                <a:sym typeface="Liter"/>
              </a:rPr>
              <a:t>Demonstration</a:t>
            </a:r>
            <a:endParaRPr b="0" i="0" sz="1600" u="none" cap="none" strike="noStrike"/>
          </a:p>
        </p:txBody>
      </p:sp>
      <p:sp>
        <p:nvSpPr>
          <p:cNvPr id="221" name="Google Shape;221;p29"/>
          <p:cNvSpPr/>
          <p:nvPr/>
        </p:nvSpPr>
        <p:spPr>
          <a:xfrm>
            <a:off x="238125" y="428625"/>
            <a:ext cx="4333800" cy="2859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lang="en" sz="2300">
                <a:solidFill>
                  <a:srgbClr val="1E293B"/>
                </a:solidFill>
                <a:latin typeface="Liter"/>
                <a:ea typeface="Liter"/>
                <a:cs typeface="Liter"/>
                <a:sym typeface="Liter"/>
              </a:rPr>
              <a:t>Does it Actually Work?</a:t>
            </a:r>
            <a:endParaRPr b="0" i="0" sz="1200" u="none" cap="none" strike="noStrike"/>
          </a:p>
        </p:txBody>
      </p:sp>
      <p:sp>
        <p:nvSpPr>
          <p:cNvPr id="222" name="Google Shape;222;p29"/>
          <p:cNvSpPr/>
          <p:nvPr/>
        </p:nvSpPr>
        <p:spPr>
          <a:xfrm>
            <a:off x="238125" y="785813"/>
            <a:ext cx="476250" cy="23813"/>
          </a:xfrm>
          <a:custGeom>
            <a:rect b="b" l="l" r="r" t="t"/>
            <a:pathLst>
              <a:path extrusionOk="0" h="31750" w="635000">
                <a:moveTo>
                  <a:pt x="0" y="0"/>
                </a:moveTo>
                <a:lnTo>
                  <a:pt x="635000" y="0"/>
                </a:lnTo>
                <a:lnTo>
                  <a:pt x="635000" y="31750"/>
                </a:lnTo>
                <a:lnTo>
                  <a:pt x="0" y="31750"/>
                </a:lnTo>
                <a:lnTo>
                  <a:pt x="0" y="0"/>
                </a:lnTo>
                <a:close/>
              </a:path>
            </a:pathLst>
          </a:custGeom>
          <a:solidFill>
            <a:srgbClr val="2563EB"/>
          </a:solidFill>
          <a:ln>
            <a:noFill/>
          </a:ln>
        </p:spPr>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227" name="Shape 227"/>
        <p:cNvGrpSpPr/>
        <p:nvPr/>
      </p:nvGrpSpPr>
      <p:grpSpPr>
        <a:xfrm>
          <a:off x="0" y="0"/>
          <a:ext cx="0" cy="0"/>
          <a:chOff x="0" y="0"/>
          <a:chExt cx="0" cy="0"/>
        </a:xfrm>
      </p:grpSpPr>
      <p:sp>
        <p:nvSpPr>
          <p:cNvPr id="228" name="Google Shape;228;p30"/>
          <p:cNvSpPr/>
          <p:nvPr/>
        </p:nvSpPr>
        <p:spPr>
          <a:xfrm>
            <a:off x="238125" y="428625"/>
            <a:ext cx="4333800" cy="2859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lang="en" sz="2300">
                <a:solidFill>
                  <a:srgbClr val="1E293B"/>
                </a:solidFill>
                <a:latin typeface="Liter"/>
                <a:ea typeface="Liter"/>
                <a:cs typeface="Liter"/>
                <a:sym typeface="Liter"/>
              </a:rPr>
              <a:t>Evaluation &amp; Test Results</a:t>
            </a:r>
            <a:endParaRPr b="0" i="0" sz="1200" u="none" cap="none" strike="noStrike"/>
          </a:p>
        </p:txBody>
      </p:sp>
      <p:sp>
        <p:nvSpPr>
          <p:cNvPr id="229" name="Google Shape;229;p30"/>
          <p:cNvSpPr/>
          <p:nvPr/>
        </p:nvSpPr>
        <p:spPr>
          <a:xfrm>
            <a:off x="238125" y="785813"/>
            <a:ext cx="476250" cy="23813"/>
          </a:xfrm>
          <a:custGeom>
            <a:rect b="b" l="l" r="r" t="t"/>
            <a:pathLst>
              <a:path extrusionOk="0" h="31750" w="635000">
                <a:moveTo>
                  <a:pt x="0" y="0"/>
                </a:moveTo>
                <a:lnTo>
                  <a:pt x="635000" y="0"/>
                </a:lnTo>
                <a:lnTo>
                  <a:pt x="635000" y="31750"/>
                </a:lnTo>
                <a:lnTo>
                  <a:pt x="0" y="31750"/>
                </a:lnTo>
                <a:lnTo>
                  <a:pt x="0" y="0"/>
                </a:lnTo>
                <a:close/>
              </a:path>
            </a:pathLst>
          </a:custGeom>
          <a:solidFill>
            <a:srgbClr val="2563EB"/>
          </a:solidFill>
          <a:ln>
            <a:noFill/>
          </a:ln>
        </p:spPr>
      </p:sp>
      <p:pic>
        <p:nvPicPr>
          <p:cNvPr id="230" name="Google Shape;230;p30" title="presentation_img_4.png"/>
          <p:cNvPicPr preferRelativeResize="0"/>
          <p:nvPr/>
        </p:nvPicPr>
        <p:blipFill>
          <a:blip r:embed="rId3">
            <a:alphaModFix/>
          </a:blip>
          <a:stretch>
            <a:fillRect/>
          </a:stretch>
        </p:blipFill>
        <p:spPr>
          <a:xfrm>
            <a:off x="2229224" y="1185125"/>
            <a:ext cx="6914774" cy="3572500"/>
          </a:xfrm>
          <a:prstGeom prst="rect">
            <a:avLst/>
          </a:prstGeom>
          <a:noFill/>
          <a:ln>
            <a:noFill/>
          </a:ln>
        </p:spPr>
      </p:pic>
      <p:sp>
        <p:nvSpPr>
          <p:cNvPr id="231" name="Google Shape;231;p30"/>
          <p:cNvSpPr/>
          <p:nvPr/>
        </p:nvSpPr>
        <p:spPr>
          <a:xfrm>
            <a:off x="2287175" y="1561525"/>
            <a:ext cx="1130700" cy="2923500"/>
          </a:xfrm>
          <a:prstGeom prst="rect">
            <a:avLst/>
          </a:prstGeom>
          <a:noFill/>
          <a:ln cap="flat" cmpd="sng" w="1905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EF4444"/>
              </a:solidFill>
            </a:endParaRPr>
          </a:p>
        </p:txBody>
      </p:sp>
      <p:cxnSp>
        <p:nvCxnSpPr>
          <p:cNvPr id="232" name="Google Shape;232;p30"/>
          <p:cNvCxnSpPr/>
          <p:nvPr/>
        </p:nvCxnSpPr>
        <p:spPr>
          <a:xfrm flipH="1">
            <a:off x="3478025" y="1572300"/>
            <a:ext cx="782400" cy="145200"/>
          </a:xfrm>
          <a:prstGeom prst="straightConnector1">
            <a:avLst/>
          </a:prstGeom>
          <a:noFill/>
          <a:ln cap="flat" cmpd="sng" w="9525">
            <a:solidFill>
              <a:srgbClr val="EF4444"/>
            </a:solidFill>
            <a:prstDash val="solid"/>
            <a:round/>
            <a:headEnd len="med" w="med" type="none"/>
            <a:tailEnd len="med" w="med" type="triangle"/>
          </a:ln>
        </p:spPr>
      </p:cxnSp>
      <p:sp>
        <p:nvSpPr>
          <p:cNvPr id="233" name="Google Shape;233;p30"/>
          <p:cNvSpPr txBox="1"/>
          <p:nvPr/>
        </p:nvSpPr>
        <p:spPr>
          <a:xfrm>
            <a:off x="4320575" y="1409700"/>
            <a:ext cx="1390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EF4444"/>
                </a:solidFill>
              </a:rPr>
              <a:t>All 11 Test Cases Passed</a:t>
            </a:r>
            <a:endParaRPr sz="800">
              <a:solidFill>
                <a:srgbClr val="EF4444"/>
              </a:solidFill>
            </a:endParaRPr>
          </a:p>
        </p:txBody>
      </p:sp>
      <p:sp>
        <p:nvSpPr>
          <p:cNvPr id="234" name="Google Shape;234;p30"/>
          <p:cNvSpPr/>
          <p:nvPr/>
        </p:nvSpPr>
        <p:spPr>
          <a:xfrm>
            <a:off x="238125" y="1409700"/>
            <a:ext cx="1869600" cy="14907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800">
                <a:solidFill>
                  <a:schemeClr val="dk2"/>
                </a:solidFill>
                <a:latin typeface="Quattrocento Sans"/>
                <a:ea typeface="Quattrocento Sans"/>
                <a:cs typeface="Quattrocento Sans"/>
                <a:sym typeface="Quattrocento Sans"/>
              </a:rPr>
              <a:t>To validate TestPilot, we built a comprehensive test suite using the public SauceLabs Swag Labs e-commerce sandbox. We wrote 11 natural language test cases, ranging from valid and invalid login attempts, multi-item cart manipulation, to complete checkout flow.</a:t>
            </a:r>
            <a:endParaRPr b="0" i="0" sz="1200" u="none" cap="none" strike="noStrike">
              <a:solidFill>
                <a:schemeClr val="dk2"/>
              </a:solidFill>
            </a:endParaRPr>
          </a:p>
        </p:txBody>
      </p:sp>
      <p:sp>
        <p:nvSpPr>
          <p:cNvPr id="235" name="Google Shape;235;p30"/>
          <p:cNvSpPr/>
          <p:nvPr/>
        </p:nvSpPr>
        <p:spPr>
          <a:xfrm>
            <a:off x="238125" y="2870525"/>
            <a:ext cx="1869600" cy="14907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800">
                <a:solidFill>
                  <a:schemeClr val="dk2"/>
                </a:solidFill>
                <a:latin typeface="Quattrocento Sans"/>
                <a:ea typeface="Quattrocento Sans"/>
                <a:cs typeface="Quattrocento Sans"/>
                <a:sym typeface="Quattrocento Sans"/>
              </a:rPr>
              <a:t>The most important takeaway from this evaluation is how they passed. These tests relied entirely on visual annotations and natural language steps. No traditional CSS selectors were written for any of these 11 tests. This proves our primary objective that we can completely eliminate the selectors' maintenance burden.</a:t>
            </a:r>
            <a:endParaRPr b="0" i="0" sz="1200" u="none" cap="none" strike="noStrike">
              <a:solidFill>
                <a:schemeClr val="dk2"/>
              </a:solidFill>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240" name="Shape 240"/>
        <p:cNvGrpSpPr/>
        <p:nvPr/>
      </p:nvGrpSpPr>
      <p:grpSpPr>
        <a:xfrm>
          <a:off x="0" y="0"/>
          <a:ext cx="0" cy="0"/>
          <a:chOff x="0" y="0"/>
          <a:chExt cx="0" cy="0"/>
        </a:xfrm>
      </p:grpSpPr>
      <p:sp>
        <p:nvSpPr>
          <p:cNvPr id="241" name="Google Shape;241;p31"/>
          <p:cNvSpPr/>
          <p:nvPr/>
        </p:nvSpPr>
        <p:spPr>
          <a:xfrm>
            <a:off x="238125" y="428625"/>
            <a:ext cx="7754100" cy="2859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lang="en" sz="2300">
                <a:solidFill>
                  <a:srgbClr val="1E293B"/>
                </a:solidFill>
                <a:latin typeface="Liter"/>
                <a:ea typeface="Liter"/>
                <a:cs typeface="Liter"/>
                <a:sym typeface="Liter"/>
              </a:rPr>
              <a:t>Engineering Challenges &amp; Lessons Learned</a:t>
            </a:r>
            <a:endParaRPr b="0" i="0" sz="1200" u="none" cap="none" strike="noStrike"/>
          </a:p>
        </p:txBody>
      </p:sp>
      <p:sp>
        <p:nvSpPr>
          <p:cNvPr id="242" name="Google Shape;242;p31"/>
          <p:cNvSpPr/>
          <p:nvPr/>
        </p:nvSpPr>
        <p:spPr>
          <a:xfrm>
            <a:off x="238125" y="785813"/>
            <a:ext cx="476250" cy="23813"/>
          </a:xfrm>
          <a:custGeom>
            <a:rect b="b" l="l" r="r" t="t"/>
            <a:pathLst>
              <a:path extrusionOk="0" h="31750" w="635000">
                <a:moveTo>
                  <a:pt x="0" y="0"/>
                </a:moveTo>
                <a:lnTo>
                  <a:pt x="635000" y="0"/>
                </a:lnTo>
                <a:lnTo>
                  <a:pt x="635000" y="31750"/>
                </a:lnTo>
                <a:lnTo>
                  <a:pt x="0" y="31750"/>
                </a:lnTo>
                <a:lnTo>
                  <a:pt x="0" y="0"/>
                </a:lnTo>
                <a:close/>
              </a:path>
            </a:pathLst>
          </a:custGeom>
          <a:solidFill>
            <a:srgbClr val="2563EB"/>
          </a:solidFill>
          <a:ln>
            <a:noFill/>
          </a:ln>
        </p:spPr>
      </p:sp>
      <p:sp>
        <p:nvSpPr>
          <p:cNvPr id="243" name="Google Shape;243;p31"/>
          <p:cNvSpPr/>
          <p:nvPr/>
        </p:nvSpPr>
        <p:spPr>
          <a:xfrm>
            <a:off x="342738" y="1765325"/>
            <a:ext cx="2373900" cy="3099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 sz="1228">
                <a:solidFill>
                  <a:srgbClr val="1E293B"/>
                </a:solidFill>
                <a:latin typeface="Liter"/>
                <a:ea typeface="Liter"/>
                <a:cs typeface="Liter"/>
                <a:sym typeface="Liter"/>
              </a:rPr>
              <a:t>AI Self-Bias in Action Verification</a:t>
            </a:r>
            <a:endParaRPr b="0" i="0" sz="1317" u="none" cap="none" strike="noStrike"/>
          </a:p>
        </p:txBody>
      </p:sp>
      <p:sp>
        <p:nvSpPr>
          <p:cNvPr id="244" name="Google Shape;244;p31"/>
          <p:cNvSpPr/>
          <p:nvPr/>
        </p:nvSpPr>
        <p:spPr>
          <a:xfrm>
            <a:off x="342750" y="2332275"/>
            <a:ext cx="2692500" cy="2071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lang="en" sz="900">
                <a:solidFill>
                  <a:srgbClr val="2563EB"/>
                </a:solidFill>
                <a:latin typeface="Quattrocento Sans"/>
                <a:ea typeface="Quattrocento Sans"/>
                <a:cs typeface="Quattrocento Sans"/>
                <a:sym typeface="Quattrocento Sans"/>
              </a:rPr>
              <a:t>Problem</a:t>
            </a:r>
            <a:r>
              <a:rPr b="1" lang="en" sz="900">
                <a:solidFill>
                  <a:srgbClr val="2563EB"/>
                </a:solidFill>
                <a:latin typeface="Quattrocento Sans"/>
                <a:ea typeface="Quattrocento Sans"/>
                <a:cs typeface="Quattrocento Sans"/>
                <a:sym typeface="Quattrocento Sans"/>
              </a:rPr>
              <a:t>: </a:t>
            </a:r>
            <a:r>
              <a:rPr lang="en" sz="900">
                <a:solidFill>
                  <a:schemeClr val="dk1"/>
                </a:solidFill>
                <a:latin typeface="Quattrocento Sans"/>
                <a:ea typeface="Quattrocento Sans"/>
                <a:cs typeface="Quattrocento Sans"/>
                <a:sym typeface="Quattrocento Sans"/>
              </a:rPr>
              <a:t>Combining step execution and assertion verification in a single LLM call, leading to high error rates where the model repeatedly verified its own incorrect actions as "passed."</a:t>
            </a:r>
            <a:endParaRPr sz="900">
              <a:solidFill>
                <a:schemeClr val="dk1"/>
              </a:solidFill>
              <a:latin typeface="Quattrocento Sans"/>
              <a:ea typeface="Quattrocento Sans"/>
              <a:cs typeface="Quattrocento Sans"/>
              <a:sym typeface="Quattrocento Sans"/>
            </a:endParaRPr>
          </a:p>
          <a:p>
            <a:pPr indent="0" lvl="0" marL="0" marR="0" rtl="0" algn="l">
              <a:lnSpc>
                <a:spcPct val="150000"/>
              </a:lnSpc>
              <a:spcBef>
                <a:spcPts val="1000"/>
              </a:spcBef>
              <a:spcAft>
                <a:spcPts val="1000"/>
              </a:spcAft>
              <a:buNone/>
            </a:pPr>
            <a:r>
              <a:rPr b="1" lang="en" sz="900">
                <a:solidFill>
                  <a:srgbClr val="2563EB"/>
                </a:solidFill>
                <a:latin typeface="Quattrocento Sans"/>
                <a:ea typeface="Quattrocento Sans"/>
                <a:cs typeface="Quattrocento Sans"/>
                <a:sym typeface="Quattrocento Sans"/>
              </a:rPr>
              <a:t>The Engineering Solution</a:t>
            </a:r>
            <a:r>
              <a:rPr b="1" lang="en" sz="900">
                <a:solidFill>
                  <a:srgbClr val="2563EB"/>
                </a:solidFill>
                <a:latin typeface="Quattrocento Sans"/>
                <a:ea typeface="Quattrocento Sans"/>
                <a:cs typeface="Quattrocento Sans"/>
                <a:sym typeface="Quattrocento Sans"/>
              </a:rPr>
              <a:t>: </a:t>
            </a:r>
            <a:r>
              <a:rPr lang="en" sz="900">
                <a:solidFill>
                  <a:schemeClr val="dk1"/>
                </a:solidFill>
                <a:latin typeface="Quattrocento Sans"/>
                <a:ea typeface="Quattrocento Sans"/>
                <a:cs typeface="Quattrocento Sans"/>
                <a:sym typeface="Quattrocento Sans"/>
              </a:rPr>
              <a:t>Decoupled the state machine. We isolated verification into a dedicated VerifyNode (Assertor) that objectively evaluates clean, unmarked screenshots to guarantee reliable test outcomes.</a:t>
            </a:r>
            <a:endParaRPr sz="900">
              <a:solidFill>
                <a:schemeClr val="dk1"/>
              </a:solidFill>
              <a:latin typeface="Quattrocento Sans"/>
              <a:ea typeface="Quattrocento Sans"/>
              <a:cs typeface="Quattrocento Sans"/>
              <a:sym typeface="Quattrocento Sans"/>
            </a:endParaRPr>
          </a:p>
        </p:txBody>
      </p:sp>
      <p:sp>
        <p:nvSpPr>
          <p:cNvPr id="245" name="Google Shape;245;p31"/>
          <p:cNvSpPr/>
          <p:nvPr/>
        </p:nvSpPr>
        <p:spPr>
          <a:xfrm>
            <a:off x="3311550" y="1765325"/>
            <a:ext cx="1998900" cy="3099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 sz="1228">
                <a:solidFill>
                  <a:srgbClr val="1E293B"/>
                </a:solidFill>
                <a:latin typeface="Liter"/>
                <a:ea typeface="Liter"/>
                <a:cs typeface="Liter"/>
                <a:sym typeface="Liter"/>
              </a:rPr>
              <a:t>State Machine Crashes via Free-Form Text</a:t>
            </a:r>
            <a:endParaRPr b="0" i="0" sz="1317" u="none" cap="none" strike="noStrike"/>
          </a:p>
        </p:txBody>
      </p:sp>
      <p:sp>
        <p:nvSpPr>
          <p:cNvPr id="246" name="Google Shape;246;p31"/>
          <p:cNvSpPr/>
          <p:nvPr/>
        </p:nvSpPr>
        <p:spPr>
          <a:xfrm>
            <a:off x="6280350" y="1765325"/>
            <a:ext cx="2921400" cy="3099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 sz="1228">
                <a:solidFill>
                  <a:srgbClr val="1E293B"/>
                </a:solidFill>
                <a:latin typeface="Liter"/>
                <a:ea typeface="Liter"/>
                <a:cs typeface="Liter"/>
                <a:sym typeface="Liter"/>
              </a:rPr>
              <a:t>Blindspots of Purely Visual Grounding</a:t>
            </a:r>
            <a:endParaRPr b="0" i="0" sz="1317" u="none" cap="none" strike="noStrike"/>
          </a:p>
        </p:txBody>
      </p:sp>
      <p:sp>
        <p:nvSpPr>
          <p:cNvPr id="247" name="Google Shape;247;p31"/>
          <p:cNvSpPr/>
          <p:nvPr/>
        </p:nvSpPr>
        <p:spPr>
          <a:xfrm>
            <a:off x="3284575" y="2332275"/>
            <a:ext cx="2692500" cy="1860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lang="en" sz="900">
                <a:solidFill>
                  <a:srgbClr val="2563EB"/>
                </a:solidFill>
                <a:latin typeface="Quattrocento Sans"/>
                <a:ea typeface="Quattrocento Sans"/>
                <a:cs typeface="Quattrocento Sans"/>
                <a:sym typeface="Quattrocento Sans"/>
              </a:rPr>
              <a:t>Problem: </a:t>
            </a:r>
            <a:r>
              <a:rPr lang="en" sz="900">
                <a:solidFill>
                  <a:schemeClr val="dk1"/>
                </a:solidFill>
                <a:latin typeface="Quattrocento Sans"/>
                <a:ea typeface="Quattrocento Sans"/>
                <a:cs typeface="Quattrocento Sans"/>
                <a:sym typeface="Quattrocento Sans"/>
              </a:rPr>
              <a:t>Relying on raw, free-form text outputs from language models consistently introduced formatting exceptions, causing the orchestration graph (LangGraph) to crash mid-execution.</a:t>
            </a:r>
            <a:endParaRPr sz="900">
              <a:solidFill>
                <a:schemeClr val="dk1"/>
              </a:solidFill>
              <a:latin typeface="Quattrocento Sans"/>
              <a:ea typeface="Quattrocento Sans"/>
              <a:cs typeface="Quattrocento Sans"/>
              <a:sym typeface="Quattrocento Sans"/>
            </a:endParaRPr>
          </a:p>
          <a:p>
            <a:pPr indent="0" lvl="0" marL="0" marR="0" rtl="0" algn="l">
              <a:lnSpc>
                <a:spcPct val="150000"/>
              </a:lnSpc>
              <a:spcBef>
                <a:spcPts val="1000"/>
              </a:spcBef>
              <a:spcAft>
                <a:spcPts val="1000"/>
              </a:spcAft>
              <a:buNone/>
            </a:pPr>
            <a:r>
              <a:rPr b="1" lang="en" sz="900">
                <a:solidFill>
                  <a:srgbClr val="2563EB"/>
                </a:solidFill>
                <a:latin typeface="Quattrocento Sans"/>
                <a:ea typeface="Quattrocento Sans"/>
                <a:cs typeface="Quattrocento Sans"/>
                <a:sym typeface="Quattrocento Sans"/>
              </a:rPr>
              <a:t>The Engineering Solution</a:t>
            </a:r>
            <a:r>
              <a:rPr b="1" lang="en" sz="900">
                <a:solidFill>
                  <a:srgbClr val="2563EB"/>
                </a:solidFill>
                <a:latin typeface="Quattrocento Sans"/>
                <a:ea typeface="Quattrocento Sans"/>
                <a:cs typeface="Quattrocento Sans"/>
                <a:sym typeface="Quattrocento Sans"/>
              </a:rPr>
              <a:t>: </a:t>
            </a:r>
            <a:r>
              <a:rPr lang="en" sz="900">
                <a:solidFill>
                  <a:schemeClr val="dk1"/>
                </a:solidFill>
                <a:latin typeface="Quattrocento Sans"/>
                <a:ea typeface="Quattrocento Sans"/>
                <a:cs typeface="Quattrocento Sans"/>
                <a:sym typeface="Quattrocento Sans"/>
              </a:rPr>
              <a:t>Enforced strict JSON schemas across key state transitions. Using Pydantic models for the assertor and recovery node completely stabilized our execution state graph.</a:t>
            </a:r>
            <a:endParaRPr sz="900">
              <a:solidFill>
                <a:schemeClr val="dk1"/>
              </a:solidFill>
              <a:latin typeface="Quattrocento Sans"/>
              <a:ea typeface="Quattrocento Sans"/>
              <a:cs typeface="Quattrocento Sans"/>
              <a:sym typeface="Quattrocento Sans"/>
            </a:endParaRPr>
          </a:p>
        </p:txBody>
      </p:sp>
      <p:sp>
        <p:nvSpPr>
          <p:cNvPr id="248" name="Google Shape;248;p31"/>
          <p:cNvSpPr/>
          <p:nvPr/>
        </p:nvSpPr>
        <p:spPr>
          <a:xfrm>
            <a:off x="6280350" y="2332275"/>
            <a:ext cx="2692500" cy="2175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lang="en" sz="900">
                <a:solidFill>
                  <a:srgbClr val="2563EB"/>
                </a:solidFill>
                <a:latin typeface="Quattrocento Sans"/>
                <a:ea typeface="Quattrocento Sans"/>
                <a:cs typeface="Quattrocento Sans"/>
                <a:sym typeface="Quattrocento Sans"/>
              </a:rPr>
              <a:t>Problem: </a:t>
            </a:r>
            <a:r>
              <a:rPr lang="en" sz="900">
                <a:solidFill>
                  <a:schemeClr val="dk1"/>
                </a:solidFill>
                <a:latin typeface="Quattrocento Sans"/>
                <a:ea typeface="Quattrocento Sans"/>
                <a:cs typeface="Quattrocento Sans"/>
                <a:sym typeface="Quattrocento Sans"/>
              </a:rPr>
              <a:t>While the Set-of-Marks (SoM) overlay worked well, purely visual elements were vulnerable to overlapping bounding boxes, low color contrast, and hidden DOM nodes.</a:t>
            </a:r>
            <a:endParaRPr sz="900">
              <a:solidFill>
                <a:schemeClr val="dk1"/>
              </a:solidFill>
              <a:latin typeface="Quattrocento Sans"/>
              <a:ea typeface="Quattrocento Sans"/>
              <a:cs typeface="Quattrocento Sans"/>
              <a:sym typeface="Quattrocento Sans"/>
            </a:endParaRPr>
          </a:p>
          <a:p>
            <a:pPr indent="0" lvl="0" marL="0" marR="0" rtl="0" algn="l">
              <a:lnSpc>
                <a:spcPct val="150000"/>
              </a:lnSpc>
              <a:spcBef>
                <a:spcPts val="1000"/>
              </a:spcBef>
              <a:spcAft>
                <a:spcPts val="1000"/>
              </a:spcAft>
              <a:buNone/>
            </a:pPr>
            <a:r>
              <a:rPr b="1" lang="en" sz="900">
                <a:solidFill>
                  <a:srgbClr val="2563EB"/>
                </a:solidFill>
                <a:latin typeface="Quattrocento Sans"/>
                <a:ea typeface="Quattrocento Sans"/>
                <a:cs typeface="Quattrocento Sans"/>
                <a:sym typeface="Quattrocento Sans"/>
              </a:rPr>
              <a:t>The Engineering Solution</a:t>
            </a:r>
            <a:r>
              <a:rPr b="1" lang="en" sz="900">
                <a:solidFill>
                  <a:srgbClr val="2563EB"/>
                </a:solidFill>
                <a:latin typeface="Quattrocento Sans"/>
                <a:ea typeface="Quattrocento Sans"/>
                <a:cs typeface="Quattrocento Sans"/>
                <a:sym typeface="Quattrocento Sans"/>
              </a:rPr>
              <a:t>: </a:t>
            </a:r>
            <a:r>
              <a:rPr lang="en" sz="900">
                <a:solidFill>
                  <a:schemeClr val="dk1"/>
                </a:solidFill>
                <a:latin typeface="Quattrocento Sans"/>
                <a:ea typeface="Quattrocento Sans"/>
                <a:cs typeface="Quattrocento Sans"/>
                <a:sym typeface="Quattrocento Sans"/>
              </a:rPr>
              <a:t>Developed a hybrid perception layer. We combined full-page visual screenshots with filtered structural accessibility tree metadata to ensure reliable, multi-modal element localization on modern.</a:t>
            </a:r>
            <a:endParaRPr sz="900">
              <a:solidFill>
                <a:schemeClr val="dk1"/>
              </a:solidFill>
              <a:latin typeface="Quattrocento Sans"/>
              <a:ea typeface="Quattrocento Sans"/>
              <a:cs typeface="Quattrocento Sans"/>
              <a:sym typeface="Quattrocento Sans"/>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253" name="Shape 253"/>
        <p:cNvGrpSpPr/>
        <p:nvPr/>
      </p:nvGrpSpPr>
      <p:grpSpPr>
        <a:xfrm>
          <a:off x="0" y="0"/>
          <a:ext cx="0" cy="0"/>
          <a:chOff x="0" y="0"/>
          <a:chExt cx="0" cy="0"/>
        </a:xfrm>
      </p:grpSpPr>
      <p:sp>
        <p:nvSpPr>
          <p:cNvPr id="254" name="Google Shape;254;p32"/>
          <p:cNvSpPr/>
          <p:nvPr/>
        </p:nvSpPr>
        <p:spPr>
          <a:xfrm>
            <a:off x="238125" y="428625"/>
            <a:ext cx="4333800" cy="2859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lang="en" sz="2300">
                <a:solidFill>
                  <a:srgbClr val="1E293B"/>
                </a:solidFill>
                <a:latin typeface="Liter"/>
                <a:ea typeface="Liter"/>
                <a:cs typeface="Liter"/>
                <a:sym typeface="Liter"/>
              </a:rPr>
              <a:t>Future Work</a:t>
            </a:r>
            <a:endParaRPr b="0" i="0" sz="1200" u="none" cap="none" strike="noStrike"/>
          </a:p>
        </p:txBody>
      </p:sp>
      <p:sp>
        <p:nvSpPr>
          <p:cNvPr id="255" name="Google Shape;255;p32"/>
          <p:cNvSpPr/>
          <p:nvPr/>
        </p:nvSpPr>
        <p:spPr>
          <a:xfrm>
            <a:off x="238125" y="785813"/>
            <a:ext cx="476250" cy="23813"/>
          </a:xfrm>
          <a:custGeom>
            <a:rect b="b" l="l" r="r" t="t"/>
            <a:pathLst>
              <a:path extrusionOk="0" h="31750" w="635000">
                <a:moveTo>
                  <a:pt x="0" y="0"/>
                </a:moveTo>
                <a:lnTo>
                  <a:pt x="635000" y="0"/>
                </a:lnTo>
                <a:lnTo>
                  <a:pt x="635000" y="31750"/>
                </a:lnTo>
                <a:lnTo>
                  <a:pt x="0" y="31750"/>
                </a:lnTo>
                <a:lnTo>
                  <a:pt x="0" y="0"/>
                </a:lnTo>
                <a:close/>
              </a:path>
            </a:pathLst>
          </a:custGeom>
          <a:solidFill>
            <a:srgbClr val="2563EB"/>
          </a:solidFill>
          <a:ln>
            <a:noFill/>
          </a:ln>
        </p:spPr>
      </p:sp>
      <p:sp>
        <p:nvSpPr>
          <p:cNvPr id="256" name="Google Shape;256;p32"/>
          <p:cNvSpPr/>
          <p:nvPr/>
        </p:nvSpPr>
        <p:spPr>
          <a:xfrm>
            <a:off x="238119" y="1306088"/>
            <a:ext cx="3214800" cy="1668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 sz="1200">
                <a:solidFill>
                  <a:srgbClr val="1E293B"/>
                </a:solidFill>
                <a:latin typeface="Liter"/>
                <a:ea typeface="Liter"/>
                <a:cs typeface="Liter"/>
                <a:sym typeface="Liter"/>
              </a:rPr>
              <a:t>Future work can extend the project by:</a:t>
            </a:r>
            <a:endParaRPr i="0" sz="1200" u="none" cap="none" strike="noStrike"/>
          </a:p>
        </p:txBody>
      </p:sp>
      <p:sp>
        <p:nvSpPr>
          <p:cNvPr id="257" name="Google Shape;257;p32"/>
          <p:cNvSpPr/>
          <p:nvPr/>
        </p:nvSpPr>
        <p:spPr>
          <a:xfrm>
            <a:off x="238125" y="1472900"/>
            <a:ext cx="5653200" cy="2852100"/>
          </a:xfrm>
          <a:prstGeom prst="rect">
            <a:avLst/>
          </a:prstGeom>
          <a:noFill/>
          <a:ln>
            <a:noFill/>
          </a:ln>
        </p:spPr>
        <p:txBody>
          <a:bodyPr anchorCtr="0" anchor="ctr" bIns="0" lIns="0" spcFirstLastPara="1" rIns="0" wrap="square" tIns="0">
            <a:noAutofit/>
          </a:bodyPr>
          <a:lstStyle/>
          <a:p>
            <a:pPr indent="-292100" lvl="0" marL="457200" marR="0" rtl="0" algn="l">
              <a:lnSpc>
                <a:spcPct val="140000"/>
              </a:lnSpc>
              <a:spcBef>
                <a:spcPts val="0"/>
              </a:spcBef>
              <a:spcAft>
                <a:spcPts val="0"/>
              </a:spcAft>
              <a:buSzPts val="1000"/>
              <a:buAutoNum type="arabicPeriod"/>
            </a:pPr>
            <a:r>
              <a:rPr lang="en" sz="1000"/>
              <a:t>Local Vision-Language Models: Currently, TestPilot relies on cloud APIs (OpenAI, Anthropic), introducing latency and cost. Future work could include integrating fine-tuned local open-source models to eliminate API costs and ensure absolute data privacy.</a:t>
            </a:r>
            <a:endParaRPr sz="1000"/>
          </a:p>
          <a:p>
            <a:pPr indent="0" lvl="0" marL="457200" marR="0" rtl="0" algn="l">
              <a:lnSpc>
                <a:spcPct val="140000"/>
              </a:lnSpc>
              <a:spcBef>
                <a:spcPts val="0"/>
              </a:spcBef>
              <a:spcAft>
                <a:spcPts val="0"/>
              </a:spcAft>
              <a:buNone/>
            </a:pPr>
            <a:r>
              <a:t/>
            </a:r>
            <a:endParaRPr sz="1000"/>
          </a:p>
          <a:p>
            <a:pPr indent="-292100" lvl="0" marL="457200" marR="0" rtl="0" algn="l">
              <a:lnSpc>
                <a:spcPct val="140000"/>
              </a:lnSpc>
              <a:spcBef>
                <a:spcPts val="0"/>
              </a:spcBef>
              <a:spcAft>
                <a:spcPts val="0"/>
              </a:spcAft>
              <a:buSzPts val="1000"/>
              <a:buAutoNum type="arabicPeriod"/>
            </a:pPr>
            <a:r>
              <a:rPr lang="en" sz="1000"/>
              <a:t>Parallel Execution Scaling: TestPilot runs one test at a time. Future work could implement parallel browser workers using sandboxed container instances to drastically reduce validation time for large test suites thus increasing the throughput.</a:t>
            </a:r>
            <a:endParaRPr sz="1000"/>
          </a:p>
          <a:p>
            <a:pPr indent="0" lvl="0" marL="457200" marR="0" rtl="0" algn="l">
              <a:lnSpc>
                <a:spcPct val="140000"/>
              </a:lnSpc>
              <a:spcBef>
                <a:spcPts val="0"/>
              </a:spcBef>
              <a:spcAft>
                <a:spcPts val="0"/>
              </a:spcAft>
              <a:buNone/>
            </a:pPr>
            <a:r>
              <a:t/>
            </a:r>
            <a:endParaRPr sz="1000"/>
          </a:p>
          <a:p>
            <a:pPr indent="-292100" lvl="0" marL="457200" marR="0" rtl="0" algn="l">
              <a:lnSpc>
                <a:spcPct val="140000"/>
              </a:lnSpc>
              <a:spcBef>
                <a:spcPts val="0"/>
              </a:spcBef>
              <a:spcAft>
                <a:spcPts val="0"/>
              </a:spcAft>
              <a:buSzPts val="1000"/>
              <a:buAutoNum type="arabicPeriod"/>
            </a:pPr>
            <a:r>
              <a:rPr lang="en" sz="1000"/>
              <a:t>Broader Observability: Future iterations could ingest browser console logs and network traffic, allowing the Assertor to detect silent JavaScript errors or failed backend API calls that don't appear on the visual interface.</a:t>
            </a:r>
            <a:endParaRPr sz="100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262" name="Shape 262"/>
        <p:cNvGrpSpPr/>
        <p:nvPr/>
      </p:nvGrpSpPr>
      <p:grpSpPr>
        <a:xfrm>
          <a:off x="0" y="0"/>
          <a:ext cx="0" cy="0"/>
          <a:chOff x="0" y="0"/>
          <a:chExt cx="0" cy="0"/>
        </a:xfrm>
      </p:grpSpPr>
      <p:sp>
        <p:nvSpPr>
          <p:cNvPr id="263" name="Google Shape;263;p33"/>
          <p:cNvSpPr/>
          <p:nvPr/>
        </p:nvSpPr>
        <p:spPr>
          <a:xfrm>
            <a:off x="238125" y="428625"/>
            <a:ext cx="4333800" cy="2859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lang="en" sz="2300">
                <a:solidFill>
                  <a:srgbClr val="1E293B"/>
                </a:solidFill>
                <a:latin typeface="Liter"/>
                <a:ea typeface="Liter"/>
                <a:cs typeface="Liter"/>
                <a:sym typeface="Liter"/>
              </a:rPr>
              <a:t>Technology Stack</a:t>
            </a:r>
            <a:endParaRPr b="0" i="0" sz="1200" u="none" cap="none" strike="noStrike"/>
          </a:p>
        </p:txBody>
      </p:sp>
      <p:sp>
        <p:nvSpPr>
          <p:cNvPr id="264" name="Google Shape;264;p33"/>
          <p:cNvSpPr/>
          <p:nvPr/>
        </p:nvSpPr>
        <p:spPr>
          <a:xfrm>
            <a:off x="238125" y="785813"/>
            <a:ext cx="476250" cy="23813"/>
          </a:xfrm>
          <a:custGeom>
            <a:rect b="b" l="l" r="r" t="t"/>
            <a:pathLst>
              <a:path extrusionOk="0" h="31750" w="635000">
                <a:moveTo>
                  <a:pt x="0" y="0"/>
                </a:moveTo>
                <a:lnTo>
                  <a:pt x="635000" y="0"/>
                </a:lnTo>
                <a:lnTo>
                  <a:pt x="635000" y="31750"/>
                </a:lnTo>
                <a:lnTo>
                  <a:pt x="0" y="31750"/>
                </a:lnTo>
                <a:lnTo>
                  <a:pt x="0" y="0"/>
                </a:lnTo>
                <a:close/>
              </a:path>
            </a:pathLst>
          </a:custGeom>
          <a:solidFill>
            <a:srgbClr val="2563EB"/>
          </a:solidFill>
          <a:ln>
            <a:noFill/>
          </a:ln>
        </p:spPr>
      </p:sp>
      <p:pic>
        <p:nvPicPr>
          <p:cNvPr id="265" name="Google Shape;265;p33" title="presentation_img_tech_stack-Photoroom.png"/>
          <p:cNvPicPr preferRelativeResize="0"/>
          <p:nvPr/>
        </p:nvPicPr>
        <p:blipFill rotWithShape="1">
          <a:blip r:embed="rId3">
            <a:alphaModFix/>
          </a:blip>
          <a:srcRect b="19189" l="15009" r="15114" t="21474"/>
          <a:stretch/>
        </p:blipFill>
        <p:spPr>
          <a:xfrm>
            <a:off x="714376" y="930275"/>
            <a:ext cx="6442050" cy="4004250"/>
          </a:xfrm>
          <a:prstGeom prst="rect">
            <a:avLst/>
          </a:prstGeom>
          <a:noFill/>
          <a:ln>
            <a:noFill/>
          </a:ln>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270" name="Shape 270"/>
        <p:cNvGrpSpPr/>
        <p:nvPr/>
      </p:nvGrpSpPr>
      <p:grpSpPr>
        <a:xfrm>
          <a:off x="0" y="0"/>
          <a:ext cx="0" cy="0"/>
          <a:chOff x="0" y="0"/>
          <a:chExt cx="0" cy="0"/>
        </a:xfrm>
      </p:grpSpPr>
      <p:sp>
        <p:nvSpPr>
          <p:cNvPr id="271" name="Google Shape;271;p34"/>
          <p:cNvSpPr/>
          <p:nvPr/>
        </p:nvSpPr>
        <p:spPr>
          <a:xfrm>
            <a:off x="2489849" y="1635150"/>
            <a:ext cx="4164300" cy="1873200"/>
          </a:xfrm>
          <a:prstGeom prst="rect">
            <a:avLst/>
          </a:prstGeom>
          <a:noFill/>
          <a:ln>
            <a:noFill/>
          </a:ln>
        </p:spPr>
        <p:txBody>
          <a:bodyPr anchorCtr="0" anchor="ctr" bIns="0" lIns="0" spcFirstLastPara="1" rIns="0" wrap="square" tIns="0">
            <a:noAutofit/>
          </a:bodyPr>
          <a:lstStyle/>
          <a:p>
            <a:pPr indent="0" lvl="0" marL="0" marR="0" rtl="0" algn="ctr">
              <a:lnSpc>
                <a:spcPct val="80000"/>
              </a:lnSpc>
              <a:spcBef>
                <a:spcPts val="0"/>
              </a:spcBef>
              <a:spcAft>
                <a:spcPts val="0"/>
              </a:spcAft>
              <a:buNone/>
            </a:pPr>
            <a:r>
              <a:rPr b="1" lang="en" sz="3344">
                <a:solidFill>
                  <a:srgbClr val="1E293B"/>
                </a:solidFill>
                <a:latin typeface="Liter"/>
                <a:ea typeface="Liter"/>
                <a:cs typeface="Liter"/>
                <a:sym typeface="Liter"/>
              </a:rPr>
              <a:t>Thank You</a:t>
            </a:r>
            <a:endParaRPr b="0" i="0" sz="1600" u="none" cap="none" strike="noStrike"/>
          </a:p>
        </p:txBody>
      </p:sp>
    </p:spTree>
  </p:cSld>
  <p:clrMapOvr>
    <a:masterClrMapping/>
  </p:clrMapOvr>
  <p:transition>
    <p:fade/>
  </p:transition>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